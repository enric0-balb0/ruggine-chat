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</p:sldIdLst>
  <p:sldSz cy="5143500" cx="9144000"/>
  <p:notesSz cx="6858000" cy="9144000"/>
  <p:embeddedFontLst>
    <p:embeddedFont>
      <p:font typeface="Roboto"/>
      <p:regular r:id="rId76"/>
      <p:bold r:id="rId77"/>
      <p:italic r:id="rId78"/>
      <p:boldItalic r:id="rId79"/>
    </p:embeddedFont>
    <p:embeddedFont>
      <p:font typeface="Montserrat"/>
      <p:regular r:id="rId80"/>
      <p:bold r:id="rId81"/>
      <p:italic r:id="rId82"/>
      <p:boldItalic r:id="rId83"/>
    </p:embeddedFont>
    <p:embeddedFont>
      <p:font typeface="Inter"/>
      <p:regular r:id="rId84"/>
      <p:bold r:id="rId85"/>
      <p:italic r:id="rId86"/>
      <p:boldItalic r:id="rId87"/>
    </p:embeddedFont>
    <p:embeddedFont>
      <p:font typeface="Montserrat Medium"/>
      <p:regular r:id="rId88"/>
      <p:bold r:id="rId89"/>
      <p:italic r:id="rId90"/>
      <p:boldItalic r:id="rId91"/>
    </p:embeddedFont>
    <p:embeddedFont>
      <p:font typeface="Inter Medium"/>
      <p:regular r:id="rId92"/>
      <p:bold r:id="rId93"/>
      <p:italic r:id="rId94"/>
      <p:boldItalic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Inter-regular.fntdata"/><Relationship Id="rId83" Type="http://schemas.openxmlformats.org/officeDocument/2006/relationships/font" Target="fonts/Montserrat-boldItalic.fntdata"/><Relationship Id="rId42" Type="http://schemas.openxmlformats.org/officeDocument/2006/relationships/slide" Target="slides/slide37.xml"/><Relationship Id="rId86" Type="http://schemas.openxmlformats.org/officeDocument/2006/relationships/font" Target="fonts/Inter-italic.fntdata"/><Relationship Id="rId41" Type="http://schemas.openxmlformats.org/officeDocument/2006/relationships/slide" Target="slides/slide36.xml"/><Relationship Id="rId85" Type="http://schemas.openxmlformats.org/officeDocument/2006/relationships/font" Target="fonts/Inter-bold.fntdata"/><Relationship Id="rId44" Type="http://schemas.openxmlformats.org/officeDocument/2006/relationships/slide" Target="slides/slide39.xml"/><Relationship Id="rId88" Type="http://schemas.openxmlformats.org/officeDocument/2006/relationships/font" Target="fonts/MontserratMedium-regular.fntdata"/><Relationship Id="rId43" Type="http://schemas.openxmlformats.org/officeDocument/2006/relationships/slide" Target="slides/slide38.xml"/><Relationship Id="rId87" Type="http://schemas.openxmlformats.org/officeDocument/2006/relationships/font" Target="fonts/Inter-bold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MontserratMedium-bold.fntdata"/><Relationship Id="rId80" Type="http://schemas.openxmlformats.org/officeDocument/2006/relationships/font" Target="fonts/Montserrat-regular.fntdata"/><Relationship Id="rId82" Type="http://schemas.openxmlformats.org/officeDocument/2006/relationships/font" Target="fonts/Montserrat-italic.fntdata"/><Relationship Id="rId81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font" Target="fonts/Roboto-bold.fntdata"/><Relationship Id="rId32" Type="http://schemas.openxmlformats.org/officeDocument/2006/relationships/slide" Target="slides/slide27.xml"/><Relationship Id="rId76" Type="http://schemas.openxmlformats.org/officeDocument/2006/relationships/font" Target="fonts/Roboto-regular.fntdata"/><Relationship Id="rId35" Type="http://schemas.openxmlformats.org/officeDocument/2006/relationships/slide" Target="slides/slide30.xml"/><Relationship Id="rId79" Type="http://schemas.openxmlformats.org/officeDocument/2006/relationships/font" Target="fonts/Roboto-boldItalic.fntdata"/><Relationship Id="rId34" Type="http://schemas.openxmlformats.org/officeDocument/2006/relationships/slide" Target="slides/slide29.xml"/><Relationship Id="rId78" Type="http://schemas.openxmlformats.org/officeDocument/2006/relationships/font" Target="fonts/Roboto-italic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95" Type="http://schemas.openxmlformats.org/officeDocument/2006/relationships/font" Target="fonts/InterMedium-boldItalic.fntdata"/><Relationship Id="rId50" Type="http://schemas.openxmlformats.org/officeDocument/2006/relationships/slide" Target="slides/slide45.xml"/><Relationship Id="rId94" Type="http://schemas.openxmlformats.org/officeDocument/2006/relationships/font" Target="fonts/InterMedium-italic.fntdata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MontserratMedium-boldItalic.fntdata"/><Relationship Id="rId90" Type="http://schemas.openxmlformats.org/officeDocument/2006/relationships/font" Target="fonts/MontserratMedium-italic.fntdata"/><Relationship Id="rId93" Type="http://schemas.openxmlformats.org/officeDocument/2006/relationships/font" Target="fonts/InterMedium-bold.fntdata"/><Relationship Id="rId92" Type="http://schemas.openxmlformats.org/officeDocument/2006/relationships/font" Target="fonts/InterMedium-regular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cfe9cb27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cfe9cb27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cfe9cb27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cfe9cb27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fe9cb27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cfe9cb27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fe9cb27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fe9cb27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d0d944e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d0d944e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d0d944ef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d0d944ef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de8c4864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de8c4864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de8c48644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de8c4864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de8c48644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de8c48644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de8c48644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7de8c48644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de8c4864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de8c4864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de8c48644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de8c4864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f30685ff6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f30685ff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d0d944ef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d0d944ef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d0d944ef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d0d944ef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d0d944ef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7d0d944ef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d0d944ef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d0d944ef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d0d944ef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d0d944ef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d0d944ef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d0d944ef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d0d944ef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d0d944ef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d9d827f1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7d9d827f1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7d9d827f1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7d9d827f1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d9d827f1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d9d827f1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d9d827f1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d9d827f1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d9d827f1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d9d827f1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d9d827f1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d9d827f1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d0d944ef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d0d944ef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d9d827f1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7d9d827f1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d9d827f1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7d9d827f1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f223edf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f223edf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e0144f7f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7e0144f7f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e0144f7f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7e0144f7f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7d9d827f1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7d9d827f1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d9d827f1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d9d827f1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d9d827f1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7d9d827f1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d9d827f1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7d9d827f1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de8c486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7de8c486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de8c4864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7de8c4864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7dd247765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7dd247765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7dd2477657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7dd2477657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7dd2477657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7dd2477657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7dd2477657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7dd2477657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dd2477657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7dd2477657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7dd2477657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7dd2477657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7dd2477657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7dd2477657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7dd2477657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7dd2477657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7ec3f0213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7ec3f0213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ec3f0213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7ec3f0213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7ec3f0213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7ec3f0213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7ec3f0213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7ec3f0213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7ec3f0213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7ec3f0213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7ec3f0213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7ec3f0213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7ec3f0213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7ec3f0213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7ec3f0213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7ec3f0213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ec3f0213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7ec3f0213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7ec3f0213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7ec3f0213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7ec3f0213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7ec3f0213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7ec3f0213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7ec3f0213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7ec3f0213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7ec3f0213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7ec3f0213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7ec3f0213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7f260afca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7f260afc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7ec3f0213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7ec3f0213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7ec3f0213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7ec3f0213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7ec3f0213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7ec3f0213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7ec3f0213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7ec3f0213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7ec3f0213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7ec3f0213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7ec3f02131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7ec3f0213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7ec3f02131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7ec3f0213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7ec3f02131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7ec3f02131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96225" y="141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○"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■"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●"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○"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■"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●"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○"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■"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Montserrat Medium"/>
              <a:buNone/>
              <a:defRPr sz="2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b="1" sz="4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b="1" sz="4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b="1" sz="4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b="1" sz="4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b="1" sz="4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b="1" sz="4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b="1" sz="4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b="1" sz="4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b="1" sz="4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" name="Google Shape;9;p1" title="Senza titolo (4)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nav-logo.png"/>
          <p:cNvPicPr preferRelativeResize="0"/>
          <p:nvPr/>
        </p:nvPicPr>
        <p:blipFill rotWithShape="1">
          <a:blip r:embed="rId3">
            <a:alphaModFix/>
          </a:blip>
          <a:srcRect b="55158" l="0" r="0" t="0"/>
          <a:stretch/>
        </p:blipFill>
        <p:spPr>
          <a:xfrm>
            <a:off x="2000250" y="617700"/>
            <a:ext cx="5143501" cy="23063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294700" y="2632775"/>
            <a:ext cx="455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Balbo Enrico - Marco Perno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294700" y="3301875"/>
            <a:ext cx="455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Programmazione di Sistema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294700" y="3970975"/>
            <a:ext cx="455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2024 / 25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1770150" y="1585350"/>
            <a:ext cx="50580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Discussione dei Requisiti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Architettura del Sistema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Architettura Software Server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it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Tests e Prestazioni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it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Struttura Client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6. Testing Client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7. Funzionalità e Caratteristiche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1116050" y="8424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</a:rPr>
              <a:t>Indice della Presentazione</a:t>
            </a:r>
            <a:endParaRPr sz="3200">
              <a:solidFill>
                <a:srgbClr val="1F4E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114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ct val="100000"/>
              <a:buFont typeface="Montserrat"/>
              <a:buAutoNum type="arabicPeriod"/>
            </a:pPr>
            <a:r>
              <a:rPr b="1" lang="it" sz="3200">
                <a:solidFill>
                  <a:srgbClr val="1F4E79"/>
                </a:solidFill>
                <a:latin typeface="Montserrat"/>
                <a:ea typeface="Montserrat"/>
                <a:cs typeface="Montserrat"/>
                <a:sym typeface="Montserrat"/>
              </a:rPr>
              <a:t>Discussione dei Requisiti (1/2)</a:t>
            </a:r>
            <a:endParaRPr b="1" sz="3200">
              <a:solidFill>
                <a:srgbClr val="1F4E7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996225" y="141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Requisiti Funzionali</a:t>
            </a:r>
            <a:r>
              <a:rPr lang="it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  <a:br>
              <a:rPr lang="i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" sz="1600">
                <a:solidFill>
                  <a:schemeClr val="dk1"/>
                </a:solidFill>
              </a:rPr>
              <a:t>- Registrazione utenti </a:t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(FR1.1)</a:t>
            </a:r>
            <a:br>
              <a:rPr lang="it" sz="1600">
                <a:solidFill>
                  <a:schemeClr val="dk1"/>
                </a:solidFill>
              </a:rPr>
            </a:br>
            <a:r>
              <a:rPr lang="it" sz="1600">
                <a:solidFill>
                  <a:schemeClr val="dk1"/>
                </a:solidFill>
              </a:rPr>
              <a:t> - Messaggistica di gruppo </a:t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(FR2.1, FR2.2)</a:t>
            </a:r>
            <a:br>
              <a:rPr lang="it" sz="1600">
                <a:solidFill>
                  <a:schemeClr val="dk1"/>
                </a:solidFill>
              </a:rPr>
            </a:br>
            <a:r>
              <a:rPr lang="it" sz="1600">
                <a:solidFill>
                  <a:schemeClr val="dk1"/>
                </a:solidFill>
              </a:rPr>
              <a:t> - Gestione inviti </a:t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(FR7.1-FR7.7)</a:t>
            </a:r>
            <a:br>
              <a:rPr lang="it" sz="1600">
                <a:solidFill>
                  <a:schemeClr val="dk1"/>
                </a:solidFill>
              </a:rPr>
            </a:br>
            <a:r>
              <a:rPr lang="it" sz="1600">
                <a:solidFill>
                  <a:schemeClr val="dk1"/>
                </a:solidFill>
              </a:rPr>
              <a:t> - Monitoraggio CPU </a:t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(FR5.1)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5168250" y="1411825"/>
            <a:ext cx="385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Requisiti Non Funzionali:</a:t>
            </a:r>
            <a:b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 sz="1600">
                <a:solidFill>
                  <a:schemeClr val="dk1"/>
                </a:solidFill>
              </a:rPr>
              <a:t> - Multi-piattaforma </a:t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(NFR4)</a:t>
            </a:r>
            <a:br>
              <a:rPr lang="it" sz="1600">
                <a:solidFill>
                  <a:schemeClr val="dk1"/>
                </a:solidFill>
              </a:rPr>
            </a:br>
            <a:r>
              <a:rPr lang="it" sz="1600">
                <a:solidFill>
                  <a:schemeClr val="dk1"/>
                </a:solidFill>
              </a:rPr>
              <a:t> - Efficienza risorse </a:t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(NFR1)</a:t>
            </a:r>
            <a:br>
              <a:rPr lang="it" sz="1600">
                <a:solidFill>
                  <a:schemeClr val="dk1"/>
                </a:solidFill>
              </a:rPr>
            </a:br>
            <a:r>
              <a:rPr lang="it" sz="1600">
                <a:solidFill>
                  <a:schemeClr val="dk1"/>
                </a:solidFill>
              </a:rPr>
              <a:t> - Sicurezza </a:t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(NFR2, NFR3)</a:t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114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ct val="100000"/>
              <a:buFont typeface="Calibri"/>
              <a:buAutoNum type="arabicPeriod"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Discussione dei Requisiti (2/2)</a:t>
            </a:r>
            <a:endParaRPr sz="3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996225" y="141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Vincoli Tecnici</a:t>
            </a:r>
            <a:r>
              <a:rPr lang="it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  <a:br>
              <a:rPr lang="i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Supporto almeno 2 piattaforme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Log CPU ogni 2 minuti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Dimensione eseguibile contenuta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5121275" y="1411825"/>
            <a:ext cx="385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Rule Critiche</a:t>
            </a: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  <a:b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Accesso solo su invito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(BR2.4)</a:t>
            </a:r>
            <a:b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Unicità username/email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(BR1.1, BR1.3)</a:t>
            </a:r>
            <a:b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Restrizioni inviti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(BR3.1-BR3.6)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2. Architettura del Sistema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996225" y="141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Componenti principali:</a:t>
            </a:r>
            <a:br>
              <a:rPr lang="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 sz="1600">
                <a:solidFill>
                  <a:schemeClr val="dk1"/>
                </a:solidFill>
              </a:rPr>
              <a:t> - Client App (multi-piattaforma)</a:t>
            </a:r>
            <a:br>
              <a:rPr lang="it" sz="1600">
                <a:solidFill>
                  <a:schemeClr val="dk1"/>
                </a:solidFill>
              </a:rPr>
            </a:br>
            <a:r>
              <a:rPr lang="it" sz="1600">
                <a:solidFill>
                  <a:schemeClr val="dk1"/>
                </a:solidFill>
              </a:rPr>
              <a:t> - Server Rust (API + WebSocket)</a:t>
            </a:r>
            <a:br>
              <a:rPr lang="it" sz="1600">
                <a:solidFill>
                  <a:schemeClr val="dk1"/>
                </a:solidFill>
              </a:rPr>
            </a:br>
            <a:r>
              <a:rPr lang="it" sz="1600">
                <a:solidFill>
                  <a:schemeClr val="dk1"/>
                </a:solidFill>
              </a:rPr>
              <a:t> - Database PostgreSQL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 - Docker Container</a:t>
            </a:r>
            <a:br>
              <a:rPr lang="it" sz="1600">
                <a:solidFill>
                  <a:schemeClr val="dk1"/>
                </a:solidFill>
              </a:rPr>
            </a:br>
            <a:r>
              <a:rPr lang="it" sz="1600">
                <a:solidFill>
                  <a:schemeClr val="dk1"/>
                </a:solidFill>
              </a:rPr>
              <a:t> - Servizio Autenticazione JWT</a:t>
            </a:r>
            <a:br>
              <a:rPr lang="it" sz="1600">
                <a:solidFill>
                  <a:schemeClr val="dk1"/>
                </a:solidFill>
              </a:rPr>
            </a:br>
            <a:r>
              <a:rPr lang="it" sz="1600">
                <a:solidFill>
                  <a:schemeClr val="dk1"/>
                </a:solidFill>
              </a:rPr>
              <a:t> Scelta architetturale: separazione chiara dei concern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2. Architettura del Sistema</a:t>
            </a:r>
            <a:endParaRPr/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6" name="Google Shape;96;p18" title="hLNVRzD037xFNs7oj8f1ooW2JGYjf22AobRMZhrCYYw9svoM-g8xfsEW_U_eBZ-Qfkq3Y9T8vxE_psT_TYuC2yt5ElEUIOgp8a5u7mpxmJ0SOvwfnpKIV_2yxI6yL0cU50PrcE16ndWA_er13MDtya_1lvMKg0VJdqegVlRN8hwQ-ptuxG4018fOI49z4cSIYK_1lovMAqa8WJF0ACyjo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5800" y="1309475"/>
            <a:ext cx="2432403" cy="3529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3. Architettura Software Server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996225" y="1411825"/>
            <a:ext cx="577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600">
                <a:solidFill>
                  <a:schemeClr val="dk1"/>
                </a:solidFill>
              </a:rPr>
              <a:t>Motivazione:</a:t>
            </a:r>
            <a:r>
              <a:rPr b="1" lang="it">
                <a:solidFill>
                  <a:schemeClr val="dk1"/>
                </a:solidFill>
              </a:rPr>
              <a:t> </a:t>
            </a:r>
            <a:r>
              <a:rPr b="1" lang="it" sz="1600">
                <a:solidFill>
                  <a:schemeClr val="dk1"/>
                </a:solidFill>
              </a:rPr>
              <a:t> </a:t>
            </a:r>
            <a:r>
              <a:rPr lang="it" sz="1600">
                <a:solidFill>
                  <a:schemeClr val="dk1"/>
                </a:solidFill>
              </a:rPr>
              <a:t>Usare una struttura il quanto più modulare e scalabile possibile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Layered Architecture: </a:t>
            </a:r>
            <a:r>
              <a:rPr lang="it" sz="1600">
                <a:solidFill>
                  <a:schemeClr val="dk1"/>
                </a:solidFill>
              </a:rPr>
              <a:t>Architettura a livelli dove ogni layer ha certe responsabilità: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</a:rPr>
              <a:t>Route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</a:rPr>
              <a:t>Handler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</a:rPr>
              <a:t>Service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</a:rPr>
              <a:t>Repository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04" name="Google Shape;104;p19" title="RLDDJ-Cm4BtxLypsmgdx0pWWM7Oba8fKsWeE1LMkFIGZt75bJuZGYl-EugIn8tf9vkFDpFFp-3gA3j8SdFebDHuGZauJAtNKvbrN2BDRHyW22_s9OGR_5G30zcwpMKAVUGKTmIHpLuiSUy0pxjVUlAESGRLHVHK3LarL4IEiCNmK8nx8MeUj3fXg3wERqkapjhXPtay9fWwhV-iDh7mZ6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9838" y="1411825"/>
            <a:ext cx="126459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3.1. Librerie principali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996225" y="1411825"/>
            <a:ext cx="432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Linguaggio: </a:t>
            </a:r>
            <a:r>
              <a:rPr lang="it" sz="1600">
                <a:solidFill>
                  <a:schemeClr val="dk1"/>
                </a:solidFill>
              </a:rPr>
              <a:t>Rust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Librerie principali: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 sz="1600">
                <a:solidFill>
                  <a:schemeClr val="dk1"/>
                </a:solidFill>
              </a:rPr>
              <a:t>Tokio + Axum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 sz="1600">
                <a:solidFill>
                  <a:schemeClr val="dk1"/>
                </a:solidFill>
              </a:rPr>
              <a:t>SQLx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 sz="1600">
                <a:solidFill>
                  <a:schemeClr val="dk1"/>
                </a:solidFill>
              </a:rPr>
              <a:t>Tokio-tungstenite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 sz="1600">
                <a:solidFill>
                  <a:schemeClr val="dk1"/>
                </a:solidFill>
              </a:rPr>
              <a:t>Serde + Validator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 sz="1600">
                <a:solidFill>
                  <a:schemeClr val="dk1"/>
                </a:solidFill>
              </a:rPr>
              <a:t>Jsonwebtoken + Bcrypt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 sz="1600">
                <a:solidFill>
                  <a:schemeClr val="dk1"/>
                </a:solidFill>
              </a:rPr>
              <a:t>Tracing + Sysinfo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2" name="Google Shape;112;p20" title="Tokio_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038" y="1965975"/>
            <a:ext cx="2067375" cy="1860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4500" y="2513100"/>
            <a:ext cx="1368575" cy="7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6630038" y="3995075"/>
            <a:ext cx="161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AXUM</a:t>
            </a:r>
            <a:endParaRPr b="1" sz="2700">
              <a:solidFill>
                <a:schemeClr val="dk1"/>
              </a:solidFill>
            </a:endParaRPr>
          </a:p>
        </p:txBody>
      </p:sp>
      <p:pic>
        <p:nvPicPr>
          <p:cNvPr id="115" name="Google Shape;115;p20" title="down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8704" y="860754"/>
            <a:ext cx="1419675" cy="14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3.2. Tokio + Axum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996225" y="1411825"/>
            <a:ext cx="71010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t" sz="1400">
                <a:solidFill>
                  <a:schemeClr val="dk1"/>
                </a:solidFill>
              </a:rPr>
              <a:t>🚀 </a:t>
            </a:r>
            <a:r>
              <a:rPr b="1" lang="it" sz="1400">
                <a:solidFill>
                  <a:schemeClr val="dk1"/>
                </a:solidFill>
              </a:rPr>
              <a:t>Axum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 sz="1400">
                <a:solidFill>
                  <a:schemeClr val="dk1"/>
                </a:solidFill>
              </a:rPr>
              <a:t>Framework web per Rust, semplice e modulare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 sz="1400">
                <a:solidFill>
                  <a:schemeClr val="dk1"/>
                </a:solidFill>
              </a:rPr>
              <a:t>Basato su Hyper, server HTTP ad alte prestazioni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 sz="1400">
                <a:solidFill>
                  <a:schemeClr val="dk1"/>
                </a:solidFill>
              </a:rPr>
              <a:t>Usa i tipi di Rust e async/await per garantire sicurezza e concorrenza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 sz="1400">
                <a:solidFill>
                  <a:schemeClr val="dk1"/>
                </a:solidFill>
              </a:rPr>
              <a:t>Ideale per costruire API REST, WebSocket e microservizi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it" sz="1400">
                <a:solidFill>
                  <a:schemeClr val="dk1"/>
                </a:solidFill>
              </a:rPr>
              <a:t>⚡ </a:t>
            </a:r>
            <a:r>
              <a:rPr b="1" lang="it" sz="1400">
                <a:solidFill>
                  <a:schemeClr val="dk1"/>
                </a:solidFill>
              </a:rPr>
              <a:t>Tokio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 sz="1400">
                <a:solidFill>
                  <a:schemeClr val="dk1"/>
                </a:solidFill>
              </a:rPr>
              <a:t>Runtime asincrona per Rust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 sz="1400">
                <a:solidFill>
                  <a:schemeClr val="dk1"/>
                </a:solidFill>
              </a:rPr>
              <a:t>Fornisce event loop, scheduler e I/O non bloccante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 sz="1400">
                <a:solidFill>
                  <a:schemeClr val="dk1"/>
                </a:solidFill>
              </a:rPr>
              <a:t>Gestisce milioni di connessioni concorrenti con poche risorse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 sz="1400">
                <a:solidFill>
                  <a:schemeClr val="dk1"/>
                </a:solidFill>
              </a:rPr>
              <a:t>Base su cui si appoggiano librerie come Hyper e framework come Axum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Insieme, </a:t>
            </a:r>
            <a:r>
              <a:rPr b="1"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Axum + Tokio</a:t>
            </a:r>
            <a:r>
              <a:rPr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permettono di scrivere applicazioni web </a:t>
            </a:r>
            <a:r>
              <a:rPr b="1"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scalabili, sicure e performanti</a:t>
            </a:r>
            <a:r>
              <a:rPr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Rust.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3" name="Google Shape;123;p21" title="Tokio_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2737" y="2841950"/>
            <a:ext cx="1007874" cy="90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6908175" y="1411825"/>
            <a:ext cx="161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AXUM</a:t>
            </a:r>
            <a:endParaRPr b="1"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3.3. SQLx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996225" y="1411825"/>
            <a:ext cx="71010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t" sz="1600">
                <a:solidFill>
                  <a:schemeClr val="dk1"/>
                </a:solidFill>
              </a:rPr>
              <a:t>🗄️</a:t>
            </a:r>
            <a:r>
              <a:rPr lang="it" sz="1600">
                <a:solidFill>
                  <a:schemeClr val="dk1"/>
                </a:solidFill>
              </a:rPr>
              <a:t> </a:t>
            </a:r>
            <a:r>
              <a:rPr b="1" lang="it" sz="1600">
                <a:solidFill>
                  <a:schemeClr val="dk1"/>
                </a:solidFill>
              </a:rPr>
              <a:t>SQLx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Libreria async per l’accesso ai database in Rust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Supporta PostgreSQL, MySQL, SQLite, MSSQL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Usa il runtime Tokio per query non bloccanti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Offre query sicure a compile-time: controlla gli errori SQL già in fase di compilazione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Supporta </a:t>
            </a:r>
            <a:r>
              <a:rPr lang="it" sz="1600">
                <a:solidFill>
                  <a:schemeClr val="dk1"/>
                </a:solidFill>
              </a:rPr>
              <a:t>c</a:t>
            </a:r>
            <a:r>
              <a:rPr lang="it" sz="1600">
                <a:solidFill>
                  <a:schemeClr val="dk1"/>
                </a:solidFill>
              </a:rPr>
              <a:t>onnection pool, transazioni e migrazioni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Semplice da integrare con framework web come Axum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Con SQLx si ottengono query SQL dirette, sicure e performanti, sfruttando al massimo la concorrenza asincrona di Rust.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2" name="Google Shape;132;p2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525" y="1468675"/>
            <a:ext cx="1368575" cy="7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3.4. Altre librerie rilevanti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996225" y="1411825"/>
            <a:ext cx="71010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</a:rPr>
              <a:t>🔌 Tokio-Tungstenite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>
                <a:solidFill>
                  <a:schemeClr val="dk1"/>
                </a:solidFill>
              </a:rPr>
              <a:t>Supporto WebSocket asincrono su Tokio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>
                <a:solidFill>
                  <a:schemeClr val="dk1"/>
                </a:solidFill>
              </a:rPr>
              <a:t>Utile per comunicazioni real-time client-server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</a:rPr>
              <a:t>📑 Serde + V</a:t>
            </a:r>
            <a:r>
              <a:rPr b="1" lang="it" sz="1200">
                <a:solidFill>
                  <a:schemeClr val="dk1"/>
                </a:solidFill>
              </a:rPr>
              <a:t>a</a:t>
            </a:r>
            <a:r>
              <a:rPr b="1" lang="it" sz="1200">
                <a:solidFill>
                  <a:schemeClr val="dk1"/>
                </a:solidFill>
              </a:rPr>
              <a:t>lidator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>
                <a:solidFill>
                  <a:schemeClr val="dk1"/>
                </a:solidFill>
              </a:rPr>
              <a:t>Serde: serializzazione/deserializzazione JSON e altri formati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>
                <a:solidFill>
                  <a:schemeClr val="dk1"/>
                </a:solidFill>
              </a:rPr>
              <a:t>Validator: validazione dei dati in input con annotazioni comode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</a:rPr>
              <a:t>🔐 Jsonwebtoken + Bcrypt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>
                <a:solidFill>
                  <a:schemeClr val="dk1"/>
                </a:solidFill>
              </a:rPr>
              <a:t>jsonwebtoken: gestione di token JWT per autenticazione sicura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>
                <a:solidFill>
                  <a:schemeClr val="dk1"/>
                </a:solidFill>
              </a:rPr>
              <a:t>bcrypt: hashing sicuro delle password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</a:rPr>
              <a:t>📊 Tracing + Sysinfo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>
                <a:solidFill>
                  <a:schemeClr val="dk1"/>
                </a:solidFill>
              </a:rPr>
              <a:t>tracing: logging strutturato e osservabilità delle applicazioni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>
                <a:solidFill>
                  <a:schemeClr val="dk1"/>
                </a:solidFill>
              </a:rPr>
              <a:t>sysinfo: accesso a metriche di sistema (CPU, RAM, processi, ecc.)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9" name="Google Shape;13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3.5. DBMS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996225" y="1411825"/>
            <a:ext cx="759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PostgreSQL </a:t>
            </a:r>
            <a:r>
              <a:rPr lang="it" sz="1600">
                <a:solidFill>
                  <a:schemeClr val="dk1"/>
                </a:solidFill>
              </a:rPr>
              <a:t>come database relazionale principale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La scelta è ricaduta su questo database per il fatto che è</a:t>
            </a:r>
            <a:r>
              <a:rPr b="1" lang="it" sz="1600">
                <a:solidFill>
                  <a:schemeClr val="dk1"/>
                </a:solidFill>
              </a:rPr>
              <a:t> ben integrato</a:t>
            </a:r>
            <a:r>
              <a:rPr lang="it" sz="1600">
                <a:solidFill>
                  <a:schemeClr val="dk1"/>
                </a:solidFill>
              </a:rPr>
              <a:t> in RUST e la libreria </a:t>
            </a:r>
            <a:r>
              <a:rPr b="1" lang="it" sz="1600">
                <a:solidFill>
                  <a:schemeClr val="dk1"/>
                </a:solidFill>
              </a:rPr>
              <a:t>SQLx </a:t>
            </a:r>
            <a:r>
              <a:rPr lang="it" sz="1600">
                <a:solidFill>
                  <a:schemeClr val="dk1"/>
                </a:solidFill>
              </a:rPr>
              <a:t>offre </a:t>
            </a:r>
            <a:r>
              <a:rPr b="1" lang="it" sz="1600">
                <a:solidFill>
                  <a:schemeClr val="dk1"/>
                </a:solidFill>
              </a:rPr>
              <a:t>supporto </a:t>
            </a:r>
            <a:r>
              <a:rPr lang="it" sz="1600">
                <a:solidFill>
                  <a:schemeClr val="dk1"/>
                </a:solidFill>
              </a:rPr>
              <a:t>per l’interfacciamento con feature "postgres" per </a:t>
            </a:r>
            <a:r>
              <a:rPr b="1" lang="it" sz="1600">
                <a:solidFill>
                  <a:schemeClr val="dk1"/>
                </a:solidFill>
              </a:rPr>
              <a:t>type safety</a:t>
            </a:r>
            <a:r>
              <a:rPr lang="it" sz="1600">
                <a:solidFill>
                  <a:schemeClr val="dk1"/>
                </a:solidFill>
              </a:rPr>
              <a:t> a </a:t>
            </a:r>
            <a:r>
              <a:rPr b="1" lang="it" sz="1600">
                <a:solidFill>
                  <a:schemeClr val="dk1"/>
                </a:solidFill>
              </a:rPr>
              <a:t>compile-time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52" name="Google Shape;152;p25" title="Untitled diagram _ Mermaid Chart-2025-09-15-1523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338" y="152400"/>
            <a:ext cx="5991332" cy="4838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3.6. Dimesioni software server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996225" y="1411825"/>
            <a:ext cx="759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Vincolo </a:t>
            </a:r>
            <a:r>
              <a:rPr b="1" lang="it" sz="1600">
                <a:solidFill>
                  <a:schemeClr val="dk1"/>
                </a:solidFill>
              </a:rPr>
              <a:t>iniziale</a:t>
            </a:r>
            <a:r>
              <a:rPr b="1" lang="it" sz="1600">
                <a:solidFill>
                  <a:schemeClr val="dk1"/>
                </a:solidFill>
              </a:rPr>
              <a:t>: </a:t>
            </a:r>
            <a:r>
              <a:rPr lang="it" sz="1600">
                <a:solidFill>
                  <a:schemeClr val="dk1"/>
                </a:solidFill>
              </a:rPr>
              <a:t>&lt;30MB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Dimensione finale: 20.26MB ✅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Requisiti hardware: </a:t>
            </a:r>
            <a:r>
              <a:rPr lang="it" sz="1600">
                <a:solidFill>
                  <a:schemeClr val="dk1"/>
                </a:solidFill>
              </a:rPr>
              <a:t>16 cpu cores + 12GB RAM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4.1 Panoramica testing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996225" y="141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Piramide di Test implementata:</a:t>
            </a:r>
            <a:endParaRPr sz="2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it" sz="1600">
                <a:solidFill>
                  <a:schemeClr val="dk1"/>
                </a:solidFill>
              </a:rPr>
              <a:t>Unit Tests (base) - Logica business isolata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it" sz="1600">
                <a:solidFill>
                  <a:schemeClr val="dk1"/>
                </a:solidFill>
              </a:rPr>
              <a:t>Integration Tests (medio)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it" sz="1600">
                <a:solidFill>
                  <a:schemeClr val="dk1"/>
                </a:solidFill>
              </a:rPr>
              <a:t>E2E-Integration Tests (vertice) - Flussi utente completi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Copertura:</a:t>
            </a:r>
            <a:endParaRPr sz="2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it" sz="1600">
                <a:solidFill>
                  <a:schemeClr val="dk1"/>
                </a:solidFill>
              </a:rPr>
              <a:t>Database, API REST, WebSocket, Business Logic</a:t>
            </a:r>
            <a:endParaRPr sz="2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4.1 </a:t>
            </a: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Panoramica testing</a:t>
            </a: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4068925" y="4460700"/>
            <a:ext cx="13329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t" sz="1400">
                <a:solidFill>
                  <a:schemeClr val="dk1"/>
                </a:solidFill>
              </a:rPr>
              <a:t>Unit Test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5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950"/>
          </a:p>
        </p:txBody>
      </p:sp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224" y="1406050"/>
            <a:ext cx="6151200" cy="30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4.1 Panoramica testing: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4053675" y="4455875"/>
            <a:ext cx="16023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t" sz="1400">
                <a:solidFill>
                  <a:schemeClr val="dk1"/>
                </a:solidFill>
              </a:rPr>
              <a:t>Integration</a:t>
            </a:r>
            <a:r>
              <a:rPr lang="it" sz="1400">
                <a:solidFill>
                  <a:schemeClr val="dk1"/>
                </a:solidFill>
              </a:rPr>
              <a:t> Test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5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950"/>
          </a:p>
        </p:txBody>
      </p:sp>
      <p:sp>
        <p:nvSpPr>
          <p:cNvPr id="181" name="Google Shape;18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126" y="1416950"/>
            <a:ext cx="6453401" cy="298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4.1 Panoramica testing: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753975" y="4455875"/>
            <a:ext cx="22017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t" sz="1400">
                <a:solidFill>
                  <a:schemeClr val="dk1"/>
                </a:solidFill>
              </a:rPr>
              <a:t>E2E-Integration </a:t>
            </a:r>
            <a:r>
              <a:rPr lang="it" sz="1400">
                <a:solidFill>
                  <a:schemeClr val="dk1"/>
                </a:solidFill>
              </a:rPr>
              <a:t>Test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5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950"/>
          </a:p>
        </p:txBody>
      </p:sp>
      <p:sp>
        <p:nvSpPr>
          <p:cNvPr id="189" name="Google Shape;18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5100" y="1331388"/>
            <a:ext cx="4119450" cy="312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4.2 </a:t>
            </a: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Unit Tests:</a:t>
            </a:r>
            <a:endParaRPr/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996225" y="141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it" sz="1600">
                <a:solidFill>
                  <a:schemeClr val="dk1"/>
                </a:solidFill>
              </a:rPr>
              <a:t>Obiettivo</a:t>
            </a:r>
            <a:r>
              <a:rPr lang="it" sz="1600">
                <a:solidFill>
                  <a:schemeClr val="dk1"/>
                </a:solidFill>
              </a:rPr>
              <a:t>: Funzioni pure e logica business isolata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it" sz="1600">
                <a:solidFill>
                  <a:schemeClr val="dk1"/>
                </a:solidFill>
              </a:rPr>
              <a:t>Framework: </a:t>
            </a:r>
            <a:r>
              <a:rPr lang="it" sz="1600">
                <a:solidFill>
                  <a:schemeClr val="dk1"/>
                </a:solidFill>
              </a:rPr>
              <a:t>Rust native #[cfg(test)] + tokio::test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it" sz="1600">
                <a:solidFill>
                  <a:schemeClr val="dk1"/>
                </a:solidFill>
              </a:rPr>
              <a:t>Mock Strategy: </a:t>
            </a:r>
            <a:r>
              <a:rPr lang="it" sz="1600">
                <a:solidFill>
                  <a:schemeClr val="dk1"/>
                </a:solidFill>
              </a:rPr>
              <a:t>Database mocking per test deterministici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it" sz="1600">
                <a:solidFill>
                  <a:schemeClr val="dk1"/>
                </a:solidFill>
              </a:rPr>
              <a:t>Vantaggi: </a:t>
            </a:r>
            <a:r>
              <a:rPr lang="it" sz="1600">
                <a:solidFill>
                  <a:schemeClr val="dk1"/>
                </a:solidFill>
              </a:rPr>
              <a:t>Esecuzione rapida, debug preciso, copertura granulare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4.3 </a:t>
            </a: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Integration Tests</a:t>
            </a: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996225" y="141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Obiettivo</a:t>
            </a:r>
            <a:r>
              <a:rPr lang="it" sz="1600">
                <a:solidFill>
                  <a:schemeClr val="dk1"/>
                </a:solidFill>
              </a:rPr>
              <a:t>: Interazione tra moduli e servizi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Database</a:t>
            </a:r>
            <a:r>
              <a:rPr b="1" lang="it" sz="1600">
                <a:solidFill>
                  <a:schemeClr val="dk1"/>
                </a:solidFill>
              </a:rPr>
              <a:t>:</a:t>
            </a:r>
            <a:r>
              <a:rPr lang="it" sz="1600">
                <a:solidFill>
                  <a:schemeClr val="dk1"/>
                </a:solidFill>
              </a:rPr>
              <a:t> PostgreSQL test container dedicato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Aree testate: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Repository layer ↔ Database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Service layer ↔ Repository layer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handlers ↔ Service layer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lang="it" sz="1600">
                <a:solidFill>
                  <a:schemeClr val="dk1"/>
                </a:solidFill>
              </a:rPr>
              <a:t>Configurazione</a:t>
            </a:r>
            <a:r>
              <a:rPr lang="it" sz="1600">
                <a:solidFill>
                  <a:schemeClr val="dk1"/>
                </a:solidFill>
              </a:rPr>
              <a:t>: Isolated test database per ogni test suite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Pattern:</a:t>
            </a:r>
            <a:r>
              <a:rPr lang="it" sz="1600">
                <a:solidFill>
                  <a:schemeClr val="dk1"/>
                </a:solidFill>
              </a:rPr>
              <a:t> Setup/Teardown automatico dei dati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4.4 E2E-Integration Tests:</a:t>
            </a:r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996225" y="1411825"/>
            <a:ext cx="721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Scope: </a:t>
            </a:r>
            <a:r>
              <a:rPr lang="it" sz="1600">
                <a:solidFill>
                  <a:schemeClr val="dk1"/>
                </a:solidFill>
              </a:rPr>
              <a:t>Flussi utente completi dalla API al database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Architettura: </a:t>
            </a:r>
            <a:r>
              <a:rPr lang="it" sz="1600">
                <a:solidFill>
                  <a:schemeClr val="dk1"/>
                </a:solidFill>
              </a:rPr>
              <a:t>Real HTTP client + Real PostgreSQL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Test Scenarios: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</a:rPr>
              <a:t>Registrazione → Autenticazione → Creazione gruppo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</a:rPr>
              <a:t>Invito utenti → Invio messaggi → Lettura messaggi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WebSocket connections → Real-time messaging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Validazione: </a:t>
            </a:r>
            <a:r>
              <a:rPr lang="it" sz="1600">
                <a:solidFill>
                  <a:schemeClr val="dk1"/>
                </a:solidFill>
              </a:rPr>
              <a:t>Response codes, data consistency, timing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⚠️⚠️⚠️</a:t>
            </a:r>
            <a:r>
              <a:rPr lang="it" sz="1600">
                <a:solidFill>
                  <a:schemeClr val="dk1"/>
                </a:solidFill>
              </a:rPr>
              <a:t>Per semplicità </a:t>
            </a:r>
            <a:r>
              <a:rPr b="1" lang="it" sz="1600">
                <a:solidFill>
                  <a:schemeClr val="dk1"/>
                </a:solidFill>
              </a:rPr>
              <a:t>alcuni setups </a:t>
            </a:r>
            <a:r>
              <a:rPr lang="it" sz="1600">
                <a:solidFill>
                  <a:schemeClr val="dk1"/>
                </a:solidFill>
              </a:rPr>
              <a:t>sono stati creati tramite funzioni </a:t>
            </a:r>
            <a:r>
              <a:rPr b="1" lang="it" sz="1600">
                <a:solidFill>
                  <a:schemeClr val="dk1"/>
                </a:solidFill>
              </a:rPr>
              <a:t>helper </a:t>
            </a:r>
            <a:r>
              <a:rPr lang="it" sz="1600">
                <a:solidFill>
                  <a:schemeClr val="dk1"/>
                </a:solidFill>
              </a:rPr>
              <a:t>e non tramite API ⚠️⚠️⚠️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4.5 Panoramica </a:t>
            </a: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Benchmark</a:t>
            </a: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Tests:</a:t>
            </a:r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996225" y="1411825"/>
            <a:ext cx="721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Obiettivo</a:t>
            </a:r>
            <a:r>
              <a:rPr b="1" lang="it" sz="1600">
                <a:solidFill>
                  <a:schemeClr val="dk1"/>
                </a:solidFill>
              </a:rPr>
              <a:t>: </a:t>
            </a:r>
            <a:r>
              <a:rPr lang="it" sz="1600">
                <a:solidFill>
                  <a:schemeClr val="dk1"/>
                </a:solidFill>
              </a:rPr>
              <a:t>Validare le prestazioni del sistema sotto carico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Metriche utilizzate</a:t>
            </a:r>
            <a:r>
              <a:rPr b="1" lang="it" sz="1600">
                <a:solidFill>
                  <a:schemeClr val="dk1"/>
                </a:solidFill>
              </a:rPr>
              <a:t>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</a:rPr>
              <a:t>Throughput (operazioni/secondo)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</a:rPr>
              <a:t>L</a:t>
            </a:r>
            <a:r>
              <a:rPr lang="it" sz="1600">
                <a:solidFill>
                  <a:schemeClr val="dk1"/>
                </a:solidFill>
              </a:rPr>
              <a:t>atenza media per operazione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</a:rPr>
              <a:t>Utilizzo CPU in tempo reale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sz="1600">
                <a:solidFill>
                  <a:schemeClr val="dk1"/>
                </a:solidFill>
              </a:rPr>
              <a:t>Scalabilità con aumento di utenti/gruppi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4.5 Panoramica Benchmark Tests:</a:t>
            </a:r>
            <a:endParaRPr/>
          </a:p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25" name="Google Shape;225;p35" title="6327c9d9-22f8-4ef8-a887-c81490d0d11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313" y="1309475"/>
            <a:ext cx="5917375" cy="35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4.5 Panoramica Benchmark Tests:</a:t>
            </a:r>
            <a:endParaRPr/>
          </a:p>
        </p:txBody>
      </p:sp>
      <p:sp>
        <p:nvSpPr>
          <p:cNvPr id="231" name="Google Shape;23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32" name="Google Shape;232;p36" title="54204c0f-1237-44e8-943f-d0f61eea116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713" y="1309475"/>
            <a:ext cx="5880575" cy="35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4.5 Panoramica Benchmark Tests:</a:t>
            </a:r>
            <a:endParaRPr/>
          </a:p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39" name="Google Shape;239;p37" title="661fdf27-c92a-4d60-92d5-d40f73b781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538" y="1309475"/>
            <a:ext cx="5880575" cy="3534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4.5 Panoramica Benchmark Tests:</a:t>
            </a:r>
            <a:endParaRPr/>
          </a:p>
        </p:txBody>
      </p:sp>
      <p:sp>
        <p:nvSpPr>
          <p:cNvPr id="245" name="Google Shape;24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46" name="Google Shape;246;p38" title="daa21d9f-2a34-4134-9c39-292459189a7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720" y="1309475"/>
            <a:ext cx="5880550" cy="3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4.5 Panoramica Benchmark Tests:</a:t>
            </a:r>
            <a:endParaRPr/>
          </a:p>
        </p:txBody>
      </p:sp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53" name="Google Shape;253;p39" title="b18bfa10-8f70-40ce-b4f4-db160771eb9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550" y="1309475"/>
            <a:ext cx="5880549" cy="3508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4.6 Benchmark mixed workload</a:t>
            </a:r>
            <a:endParaRPr/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996225" y="1411825"/>
            <a:ext cx="7154100" cy="31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 sz="1600">
                <a:solidFill>
                  <a:schemeClr val="dk1"/>
                </a:solidFill>
              </a:rPr>
              <a:t>Motivo</a:t>
            </a:r>
            <a:r>
              <a:rPr lang="it" sz="1600">
                <a:solidFill>
                  <a:schemeClr val="dk1"/>
                </a:solidFill>
              </a:rPr>
              <a:t>: I tests precedenti mostrati sono </a:t>
            </a:r>
            <a:r>
              <a:rPr b="1" lang="it" sz="1600">
                <a:solidFill>
                  <a:schemeClr val="dk1"/>
                </a:solidFill>
              </a:rPr>
              <a:t>rilevanti</a:t>
            </a:r>
            <a:r>
              <a:rPr lang="it" sz="1600">
                <a:solidFill>
                  <a:schemeClr val="dk1"/>
                </a:solidFill>
              </a:rPr>
              <a:t>, ma</a:t>
            </a:r>
            <a:r>
              <a:rPr b="1" lang="it" sz="1600">
                <a:solidFill>
                  <a:schemeClr val="dk1"/>
                </a:solidFill>
              </a:rPr>
              <a:t> non realistici</a:t>
            </a:r>
            <a:r>
              <a:rPr lang="it" sz="1600">
                <a:solidFill>
                  <a:schemeClr val="dk1"/>
                </a:solidFill>
              </a:rPr>
              <a:t>: nessun utente invierà mai 1000 messaggi consecutivi senza eseguire altre operazioni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 sz="1600">
                <a:solidFill>
                  <a:schemeClr val="dk1"/>
                </a:solidFill>
              </a:rPr>
              <a:t>Soluzione: </a:t>
            </a:r>
            <a:r>
              <a:rPr lang="it" sz="1600">
                <a:solidFill>
                  <a:schemeClr val="dk1"/>
                </a:solidFill>
              </a:rPr>
              <a:t>Bisogna creare dei tests che simulano situazioni reali dove diversi utenti compiono diverse azioni. Bisogna simulare scenari dove le </a:t>
            </a:r>
            <a:r>
              <a:rPr b="1" lang="it" sz="1600">
                <a:solidFill>
                  <a:schemeClr val="dk1"/>
                </a:solidFill>
              </a:rPr>
              <a:t>operazioni </a:t>
            </a:r>
            <a:r>
              <a:rPr lang="it" sz="1600">
                <a:solidFill>
                  <a:schemeClr val="dk1"/>
                </a:solidFill>
              </a:rPr>
              <a:t>sono </a:t>
            </a:r>
            <a:r>
              <a:rPr b="1" lang="it" sz="1600">
                <a:solidFill>
                  <a:schemeClr val="dk1"/>
                </a:solidFill>
              </a:rPr>
              <a:t>più o meno uniformemente distribuite</a:t>
            </a:r>
            <a:r>
              <a:rPr lang="it" sz="1600">
                <a:solidFill>
                  <a:schemeClr val="dk1"/>
                </a:solidFill>
              </a:rPr>
              <a:t> nel </a:t>
            </a:r>
            <a:r>
              <a:rPr b="1" lang="it" sz="1600">
                <a:solidFill>
                  <a:schemeClr val="dk1"/>
                </a:solidFill>
              </a:rPr>
              <a:t>tempo </a:t>
            </a:r>
            <a:r>
              <a:rPr lang="it" sz="1600">
                <a:solidFill>
                  <a:schemeClr val="dk1"/>
                </a:solidFill>
              </a:rPr>
              <a:t>e nella </a:t>
            </a:r>
            <a:r>
              <a:rPr b="1" lang="it" sz="1600">
                <a:solidFill>
                  <a:schemeClr val="dk1"/>
                </a:solidFill>
              </a:rPr>
              <a:t>tipologia </a:t>
            </a:r>
            <a:r>
              <a:rPr lang="it" sz="1600">
                <a:solidFill>
                  <a:schemeClr val="dk1"/>
                </a:solidFill>
              </a:rPr>
              <a:t>(esempio simulare l’invio di un messaggio da parte di un certo utente ogni 30s±5s oppure simulare che il numero di utenti in ascolto dei messaggi è abbastanza maggiore degli utenti che inviano messaggi)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 sz="1600">
                <a:solidFill>
                  <a:schemeClr val="dk1"/>
                </a:solidFill>
              </a:rPr>
              <a:t>Prerequisiti: </a:t>
            </a:r>
            <a:r>
              <a:rPr lang="it" sz="1600">
                <a:solidFill>
                  <a:schemeClr val="dk1"/>
                </a:solidFill>
              </a:rPr>
              <a:t>Bisogna usare un ambiente isolato e ricreabile, di conseguenza è stato creato un container docker per il </a:t>
            </a:r>
            <a:r>
              <a:rPr b="1" lang="it" sz="1600">
                <a:solidFill>
                  <a:schemeClr val="dk1"/>
                </a:solidFill>
              </a:rPr>
              <a:t>server</a:t>
            </a:r>
            <a:r>
              <a:rPr lang="it" sz="1600">
                <a:solidFill>
                  <a:schemeClr val="dk1"/>
                </a:solidFill>
              </a:rPr>
              <a:t> (</a:t>
            </a:r>
            <a:r>
              <a:rPr b="1" lang="it" sz="1600">
                <a:solidFill>
                  <a:schemeClr val="dk1"/>
                </a:solidFill>
              </a:rPr>
              <a:t>8 CPU cores + 8GB Ram</a:t>
            </a:r>
            <a:r>
              <a:rPr lang="it" sz="1600">
                <a:solidFill>
                  <a:schemeClr val="dk1"/>
                </a:solidFill>
              </a:rPr>
              <a:t>) e un container docker per il </a:t>
            </a:r>
            <a:r>
              <a:rPr b="1" lang="it" sz="1600">
                <a:solidFill>
                  <a:schemeClr val="dk1"/>
                </a:solidFill>
              </a:rPr>
              <a:t>database </a:t>
            </a:r>
            <a:r>
              <a:rPr lang="it" sz="1600">
                <a:solidFill>
                  <a:schemeClr val="dk1"/>
                </a:solidFill>
              </a:rPr>
              <a:t>(</a:t>
            </a:r>
            <a:r>
              <a:rPr b="1" lang="it" sz="1600">
                <a:solidFill>
                  <a:schemeClr val="dk1"/>
                </a:solidFill>
              </a:rPr>
              <a:t>6 CPU cores + 6 GB Ram</a:t>
            </a:r>
            <a:r>
              <a:rPr lang="it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 sz="1600">
                <a:solidFill>
                  <a:schemeClr val="dk1"/>
                </a:solidFill>
              </a:rPr>
              <a:t>Ottimizzazioni: </a:t>
            </a:r>
            <a:r>
              <a:rPr lang="it" sz="1600">
                <a:solidFill>
                  <a:schemeClr val="dk1"/>
                </a:solidFill>
              </a:rPr>
              <a:t>Oltre ad indici sul database è anche interessante vedere cosa succeda applicando ottimizzazioni al software a livello di compilazione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60" name="Google Shape;26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4.6 Benchmark mixed workload</a:t>
            </a:r>
            <a:endParaRPr/>
          </a:p>
        </p:txBody>
      </p:sp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996225" y="1411825"/>
            <a:ext cx="7154100" cy="3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</a:rPr>
              <a:t>Configurazione </a:t>
            </a:r>
            <a:r>
              <a:rPr b="1" i="1" lang="it" sz="1600">
                <a:solidFill>
                  <a:schemeClr val="dk1"/>
                </a:solidFill>
              </a:rPr>
              <a:t>uniform distributed</a:t>
            </a:r>
            <a:endParaRPr/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Numero di gruppi: </a:t>
            </a:r>
            <a:r>
              <a:rPr b="1" lang="it" sz="1366">
                <a:solidFill>
                  <a:schemeClr val="dk1"/>
                </a:solidFill>
              </a:rPr>
              <a:t>1200</a:t>
            </a:r>
            <a:endParaRPr b="1"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Numero di utenti: </a:t>
            </a:r>
            <a:r>
              <a:rPr b="1" lang="it" sz="1366">
                <a:solidFill>
                  <a:schemeClr val="dk1"/>
                </a:solidFill>
              </a:rPr>
              <a:t>16800</a:t>
            </a:r>
            <a:endParaRPr b="1"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Utenti che creano messaggi per gruppo: 2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Utenti che chiamano find not read + mark read per gruppo: 2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Utenti che chiamano find paginated per gruppo: 2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Utenti connessi al websocket (passivi) per gruppo: 7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Utenti connessi al websocket (attivi con mark read) per gruppo: 1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Durata del test (s): 130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Intervallo senders (ms): 30000 ± 30000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Intervallo not read readers (ms): 30000 ± 30000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Intervallo paginated readers (ms): 55000 ± 55000</a:t>
            </a:r>
            <a:endParaRPr sz="136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4.6 Benchmark mixed workload</a:t>
            </a:r>
            <a:endParaRPr/>
          </a:p>
        </p:txBody>
      </p:sp>
      <p:sp>
        <p:nvSpPr>
          <p:cNvPr id="273" name="Google Shape;27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4" name="Google Shape;274;p42"/>
          <p:cNvSpPr txBox="1"/>
          <p:nvPr/>
        </p:nvSpPr>
        <p:spPr>
          <a:xfrm>
            <a:off x="6390075" y="1394800"/>
            <a:ext cx="277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75" name="Google Shape;275;p42" title="Immagine WhatsApp 2025-09-15 ore 11.32.42_b5dbc57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488" y="1309475"/>
            <a:ext cx="6758668" cy="33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4.6 Benchmark mixed workload</a:t>
            </a:r>
            <a:endParaRPr/>
          </a:p>
        </p:txBody>
      </p:sp>
      <p:sp>
        <p:nvSpPr>
          <p:cNvPr id="281" name="Google Shape;281;p43"/>
          <p:cNvSpPr txBox="1"/>
          <p:nvPr>
            <p:ph idx="1" type="body"/>
          </p:nvPr>
        </p:nvSpPr>
        <p:spPr>
          <a:xfrm>
            <a:off x="996225" y="1411825"/>
            <a:ext cx="7154100" cy="3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</a:rPr>
              <a:t>Risultati:</a:t>
            </a:r>
            <a:endParaRPr/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📝 Messaggi creati: 11920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🔍 Query messaggi non letti: 12030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📄 Query messaggi paginati: 7213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✅ Operazioni mark as read: 21395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🔌 Connessioni WebSocket passive: 8400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🔌 Connessioni WebSocket attive: 1200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📨 Mark as read da WebSocket: 9521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❌ Operazioni fallite: 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🎯 Operazioni totali: 62079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📈 Ops/sec: 145.25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📉 Failure rate: 0.00%</a:t>
            </a:r>
            <a:endParaRPr sz="136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4.6 Benchmark mixed workload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4"/>
          <p:cNvSpPr txBox="1"/>
          <p:nvPr>
            <p:ph idx="1" type="body"/>
          </p:nvPr>
        </p:nvSpPr>
        <p:spPr>
          <a:xfrm>
            <a:off x="996225" y="1411825"/>
            <a:ext cx="734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</a:rPr>
              <a:t>🚀 Ottimizzazione dei test:</a:t>
            </a:r>
            <a:r>
              <a:rPr lang="it" sz="1600">
                <a:solidFill>
                  <a:schemeClr val="dk1"/>
                </a:solidFill>
              </a:rPr>
              <a:t> Il grafico precedente mostra i risultati senza ottimizzazioni di compilazione. Ora applichiamo alcune ottimizzazioni per migliorare le prestazioni:</a:t>
            </a:r>
            <a:endParaRPr sz="13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⚡ Cargo build: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it" sz="1300">
                <a:solidFill>
                  <a:schemeClr val="dk1"/>
                </a:solidFill>
              </a:rPr>
              <a:t>opt-level = 3 → massima ottimizzazione per velocità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it" sz="1300">
                <a:solidFill>
                  <a:schemeClr val="dk1"/>
                </a:solidFill>
              </a:rPr>
              <a:t>debug = false → rimuove simboli di debug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it" sz="1300">
                <a:solidFill>
                  <a:schemeClr val="dk1"/>
                </a:solidFill>
              </a:rPr>
              <a:t>lto = true → Link Time Optimization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89" name="Google Shape;28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4.6 Benchmark mixed workload</a:t>
            </a:r>
            <a:endParaRPr/>
          </a:p>
        </p:txBody>
      </p:sp>
      <p:sp>
        <p:nvSpPr>
          <p:cNvPr id="295" name="Google Shape;295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96" name="Google Shape;296;p45" title="Immagine WhatsApp 2025-09-15 ore 12.06.01_6410765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863" y="1309475"/>
            <a:ext cx="7112286" cy="35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6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4.6 Benchmark mixed workload</a:t>
            </a:r>
            <a:endParaRPr/>
          </a:p>
        </p:txBody>
      </p:sp>
      <p:sp>
        <p:nvSpPr>
          <p:cNvPr id="302" name="Google Shape;302;p46"/>
          <p:cNvSpPr txBox="1"/>
          <p:nvPr>
            <p:ph idx="1" type="body"/>
          </p:nvPr>
        </p:nvSpPr>
        <p:spPr>
          <a:xfrm>
            <a:off x="996225" y="1411825"/>
            <a:ext cx="7154100" cy="3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</a:rPr>
              <a:t>Risultati:</a:t>
            </a:r>
            <a:endParaRPr/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</a:t>
            </a:r>
            <a:r>
              <a:rPr lang="it" sz="1366">
                <a:solidFill>
                  <a:schemeClr val="dk1"/>
                </a:solidFill>
              </a:rPr>
              <a:t>📝 Messaggi creati: 11935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🔍 Query messaggi non letti: 12056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📄 Query messaggi paginati: 7359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✅ Operazioni mark as read: 21528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🔌 Connessioni WebSocket passive: 8400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🔌 Connessioni WebSocket attive: 1200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📨 Mark as read da WebSocket: 9537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❌ Operazioni fallite: 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🎯 Operazioni totali: 62415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📈 Ops/sec: 146.76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📉 Failure rate: 0.00%</a:t>
            </a:r>
            <a:endParaRPr sz="136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7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4.6 Benchmark mixed workload</a:t>
            </a:r>
            <a:endParaRPr/>
          </a:p>
        </p:txBody>
      </p:sp>
      <p:sp>
        <p:nvSpPr>
          <p:cNvPr id="309" name="Google Shape;309;p47"/>
          <p:cNvSpPr txBox="1"/>
          <p:nvPr>
            <p:ph idx="1" type="body"/>
          </p:nvPr>
        </p:nvSpPr>
        <p:spPr>
          <a:xfrm>
            <a:off x="996225" y="1411825"/>
            <a:ext cx="7154100" cy="3106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</a:rPr>
              <a:t>Configurazione NON </a:t>
            </a:r>
            <a:r>
              <a:rPr b="1" i="1" lang="it" sz="1600">
                <a:solidFill>
                  <a:schemeClr val="dk1"/>
                </a:solidFill>
              </a:rPr>
              <a:t>uniform distributed</a:t>
            </a:r>
            <a:endParaRPr/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Numero di gruppi: </a:t>
            </a:r>
            <a:r>
              <a:rPr b="1" lang="it" sz="1366">
                <a:solidFill>
                  <a:schemeClr val="dk1"/>
                </a:solidFill>
              </a:rPr>
              <a:t>1200</a:t>
            </a:r>
            <a:endParaRPr b="1"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Numero di utenti: </a:t>
            </a:r>
            <a:r>
              <a:rPr b="1" lang="it" sz="1366">
                <a:solidFill>
                  <a:schemeClr val="dk1"/>
                </a:solidFill>
              </a:rPr>
              <a:t>16800</a:t>
            </a:r>
            <a:endParaRPr b="1"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Utenti che creano messaggi per gruppo: 2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Utenti che chiamano find not read + mark read per gruppo: 2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Utenti che chiamano find paginated per gruppo: 2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Utenti connessi al websocket (passivi) per gruppo: 7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Utenti connessi al websocket (attivi con mark read) per gruppo: 1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Durata del test (s): 130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Intervallo senders (ms): 30000 ± 5000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Intervallo not read readers (ms): 30000 ± 10000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Intervallo paginated readers (ms): 55000 ± 15000</a:t>
            </a:r>
            <a:endParaRPr sz="136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8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4.6 Benchmark mixed workload</a:t>
            </a:r>
            <a:endParaRPr/>
          </a:p>
        </p:txBody>
      </p:sp>
      <p:sp>
        <p:nvSpPr>
          <p:cNvPr id="316" name="Google Shape;31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17" name="Google Shape;317;p48" title="Immagine WhatsApp 2025-09-15 ore 14.27.21_e4f2cce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863" y="1309475"/>
            <a:ext cx="7112286" cy="35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9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4.6 Benchmark mixed workload</a:t>
            </a:r>
            <a:endParaRPr/>
          </a:p>
        </p:txBody>
      </p:sp>
      <p:sp>
        <p:nvSpPr>
          <p:cNvPr id="323" name="Google Shape;323;p49"/>
          <p:cNvSpPr txBox="1"/>
          <p:nvPr>
            <p:ph idx="1" type="body"/>
          </p:nvPr>
        </p:nvSpPr>
        <p:spPr>
          <a:xfrm>
            <a:off x="996225" y="1411825"/>
            <a:ext cx="7154100" cy="3106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</a:rPr>
              <a:t>Risultati:</a:t>
            </a:r>
            <a:endParaRPr/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📝 Messaggi creati: 11190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🔍 Query messaggi non letti: 11435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📄 Query messaggi paginati: 7066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✅ Operazioni mark as read: 19950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🔌 Connessioni WebSocket passive: 8400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🔌 Connessioni WebSocket attive: 1200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📨 Mark as read da WebSocket: 8793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❌ Operazioni fallite: 0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🎯 Operazioni totali: 58434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📈 Ops/sec: 156.37</a:t>
            </a:r>
            <a:endParaRPr sz="1366">
              <a:solidFill>
                <a:schemeClr val="dk1"/>
              </a:solidFill>
            </a:endParaRPr>
          </a:p>
          <a:p>
            <a:pPr indent="-3153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6"/>
              <a:buChar char="●"/>
            </a:pPr>
            <a:r>
              <a:rPr lang="it" sz="1366">
                <a:solidFill>
                  <a:schemeClr val="dk1"/>
                </a:solidFill>
              </a:rPr>
              <a:t>  📉 Failure rate: 0.00%</a:t>
            </a:r>
            <a:endParaRPr sz="136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0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4.7 Tests Coverage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0"/>
          <p:cNvSpPr txBox="1"/>
          <p:nvPr>
            <p:ph idx="1" type="body"/>
          </p:nvPr>
        </p:nvSpPr>
        <p:spPr>
          <a:xfrm>
            <a:off x="996225" y="1411825"/>
            <a:ext cx="7381500" cy="3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Tipi di coverage: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Function: </a:t>
            </a:r>
            <a:r>
              <a:rPr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Funzioni totali coperte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Line: </a:t>
            </a:r>
            <a:r>
              <a:rPr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Linee totali coperte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Region: </a:t>
            </a:r>
            <a:r>
              <a:rPr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Regioni totali di codice coperte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4.7 Tests Coverage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1"/>
          <p:cNvSpPr txBox="1"/>
          <p:nvPr>
            <p:ph idx="1" type="body"/>
          </p:nvPr>
        </p:nvSpPr>
        <p:spPr>
          <a:xfrm>
            <a:off x="996225" y="1411825"/>
            <a:ext cx="7381500" cy="3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 sz="1600">
                <a:solidFill>
                  <a:schemeClr val="dk1"/>
                </a:solidFill>
              </a:rPr>
              <a:t>Risultati</a:t>
            </a:r>
            <a:r>
              <a:rPr b="1" lang="it" sz="1600">
                <a:solidFill>
                  <a:schemeClr val="dk1"/>
                </a:solidFill>
              </a:rPr>
              <a:t>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Function Coverage: </a:t>
            </a:r>
            <a:r>
              <a:rPr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92.06% (2538/2757)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Line Coverage: </a:t>
            </a:r>
            <a:r>
              <a:rPr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92.33% (17213/18642)	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b="1"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Region Coverage: </a:t>
            </a:r>
            <a:r>
              <a:rPr lang="it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93.03% (24810/26668)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4" name="Google Shape;344;p52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</a:rPr>
              <a:t>5. Struttura Client</a:t>
            </a:r>
            <a:endParaRPr/>
          </a:p>
        </p:txBody>
      </p:sp>
      <p:sp>
        <p:nvSpPr>
          <p:cNvPr id="345" name="Google Shape;345;p52"/>
          <p:cNvSpPr txBox="1"/>
          <p:nvPr>
            <p:ph idx="1" type="body"/>
          </p:nvPr>
        </p:nvSpPr>
        <p:spPr>
          <a:xfrm>
            <a:off x="996225" y="141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Linguaggio</a:t>
            </a: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  <a:endParaRPr sz="2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187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Rust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Tecnologie</a:t>
            </a: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  <a:endParaRPr sz="2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187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LeptOS </a:t>
            </a:r>
            <a:endParaRPr>
              <a:solidFill>
                <a:schemeClr val="dk1"/>
              </a:solidFill>
            </a:endParaRPr>
          </a:p>
          <a:p>
            <a:pPr indent="-2187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Tauri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Stile</a:t>
            </a:r>
            <a:r>
              <a:rPr lang="it"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  <a:endParaRPr sz="2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187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TailwindCSS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46" name="Google Shape;346;p52" title="rust-logo-512x512-bl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9500" y="598700"/>
            <a:ext cx="1592826" cy="159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2" title="3d86477e-90b1-4be2-a401-ff414013529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5275" y="2324413"/>
            <a:ext cx="2049574" cy="102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2" title="taur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9225" y="2150988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2" title="Tailwind_CSS_logo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4375" y="3719838"/>
            <a:ext cx="461777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3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</a:rPr>
              <a:t>5.1 Rust Client Side</a:t>
            </a:r>
            <a:endParaRPr/>
          </a:p>
        </p:txBody>
      </p:sp>
      <p:sp>
        <p:nvSpPr>
          <p:cNvPr id="355" name="Google Shape;355;p53"/>
          <p:cNvSpPr txBox="1"/>
          <p:nvPr>
            <p:ph idx="1" type="body"/>
          </p:nvPr>
        </p:nvSpPr>
        <p:spPr>
          <a:xfrm>
            <a:off x="996225" y="1577475"/>
            <a:ext cx="747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Rust è una valida alternativa per client-side web e desktop, grazie alla </a:t>
            </a:r>
            <a:r>
              <a:rPr b="1" lang="it">
                <a:solidFill>
                  <a:schemeClr val="dk1"/>
                </a:solidFill>
              </a:rPr>
              <a:t>memory safety</a:t>
            </a:r>
            <a:r>
              <a:rPr lang="it">
                <a:solidFill>
                  <a:schemeClr val="dk1"/>
                </a:solidFill>
              </a:rPr>
              <a:t> senza Garbage Collector e concorrenza sicura, che garantiscono </a:t>
            </a:r>
            <a:r>
              <a:rPr b="1" lang="it">
                <a:solidFill>
                  <a:schemeClr val="dk1"/>
                </a:solidFill>
              </a:rPr>
              <a:t>performance costanti e interfacce reattive</a:t>
            </a:r>
            <a:r>
              <a:rPr lang="it">
                <a:solidFill>
                  <a:schemeClr val="dk1"/>
                </a:solidFill>
              </a:rPr>
              <a:t>, utili in applicativi con molta interattività come questo.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it">
                <a:solidFill>
                  <a:schemeClr val="dk1"/>
                </a:solidFill>
              </a:rPr>
            </a:br>
            <a:r>
              <a:rPr lang="it">
                <a:solidFill>
                  <a:schemeClr val="dk1"/>
                </a:solidFill>
              </a:rPr>
              <a:t>La compilazione in </a:t>
            </a:r>
            <a:r>
              <a:rPr b="1" lang="it">
                <a:solidFill>
                  <a:schemeClr val="dk1"/>
                </a:solidFill>
              </a:rPr>
              <a:t>WebAssembly (WASM)</a:t>
            </a:r>
            <a:r>
              <a:rPr lang="it">
                <a:solidFill>
                  <a:schemeClr val="dk1"/>
                </a:solidFill>
              </a:rPr>
              <a:t> permette di eseguire codice nativo nel browser, offrendo interfacce web </a:t>
            </a:r>
            <a:r>
              <a:rPr b="1" lang="it">
                <a:solidFill>
                  <a:schemeClr val="dk1"/>
                </a:solidFill>
              </a:rPr>
              <a:t>fluide e veloci</a:t>
            </a:r>
            <a:r>
              <a:rPr lang="it">
                <a:solidFill>
                  <a:schemeClr val="dk1"/>
                </a:solidFill>
              </a:rPr>
              <a:t> e condividendo gran parte del codice con la versione desktop.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57" name="Google Shape;357;p53" title="rust-logo-512x512-bl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875" y="376113"/>
            <a:ext cx="1035725" cy="10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4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</a:rPr>
              <a:t>5.2 Web Assembly (WASM)</a:t>
            </a:r>
            <a:endParaRPr/>
          </a:p>
        </p:txBody>
      </p:sp>
      <p:sp>
        <p:nvSpPr>
          <p:cNvPr id="363" name="Google Shape;36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64" name="Google Shape;364;p54" title="0_-X87Fbx9_sFJ8sJ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475" y="1567850"/>
            <a:ext cx="4687949" cy="296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4"/>
          <p:cNvSpPr/>
          <p:nvPr/>
        </p:nvSpPr>
        <p:spPr>
          <a:xfrm>
            <a:off x="996225" y="1567775"/>
            <a:ext cx="3265500" cy="296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4"/>
          <p:cNvSpPr txBox="1"/>
          <p:nvPr/>
        </p:nvSpPr>
        <p:spPr>
          <a:xfrm>
            <a:off x="996275" y="1567850"/>
            <a:ext cx="34626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Standard che permette di </a:t>
            </a:r>
            <a:r>
              <a:rPr b="1" lang="it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eseguire codice nativo (Rust, C++,..)  nel browser</a:t>
            </a:r>
            <a:br>
              <a:rPr lang="it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Performance quasi native </a:t>
            </a:r>
            <a:r>
              <a:rPr lang="it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superiori a Java Script, ideale per applicazioni complesse</a:t>
            </a:r>
            <a:br>
              <a:rPr lang="it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Consente quindi una condivisione di logica tra web e desktop</a:t>
            </a:r>
            <a:endParaRPr sz="2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</a:rPr>
              <a:t>5.3 Leptos: Reactive Web Framework</a:t>
            </a:r>
            <a:endParaRPr/>
          </a:p>
        </p:txBody>
      </p:sp>
      <p:sp>
        <p:nvSpPr>
          <p:cNvPr id="372" name="Google Shape;372;p55"/>
          <p:cNvSpPr txBox="1"/>
          <p:nvPr>
            <p:ph idx="1" type="body"/>
          </p:nvPr>
        </p:nvSpPr>
        <p:spPr>
          <a:xfrm>
            <a:off x="996225" y="1411825"/>
            <a:ext cx="50169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Leptos permette di creare interfacce web applicativi web in Rust, scrivendo codice simile ad altri web framework JS-based.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>
                <a:solidFill>
                  <a:schemeClr val="dk1"/>
                </a:solidFill>
              </a:rPr>
              <a:t>Grazie alla </a:t>
            </a:r>
            <a:r>
              <a:rPr b="1" lang="it">
                <a:solidFill>
                  <a:schemeClr val="dk1"/>
                </a:solidFill>
              </a:rPr>
              <a:t>fine-grained reactivity</a:t>
            </a:r>
            <a:r>
              <a:rPr lang="it">
                <a:solidFill>
                  <a:schemeClr val="dk1"/>
                </a:solidFill>
              </a:rPr>
              <a:t>, solo i componenti che cambiano vengono aggiornati, garantendo UI fluide.</a:t>
            </a:r>
            <a:endParaRPr sz="2500"/>
          </a:p>
        </p:txBody>
      </p:sp>
      <p:sp>
        <p:nvSpPr>
          <p:cNvPr id="373" name="Google Shape;37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74" name="Google Shape;374;p55" title="3d86477e-90b1-4be2-a401-ff414013529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2875" y="1546988"/>
            <a:ext cx="2049574" cy="1024774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5"/>
          <p:cNvSpPr txBox="1"/>
          <p:nvPr>
            <p:ph idx="1" type="body"/>
          </p:nvPr>
        </p:nvSpPr>
        <p:spPr>
          <a:xfrm>
            <a:off x="996225" y="3478425"/>
            <a:ext cx="75786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>
                <a:solidFill>
                  <a:schemeClr val="dk1"/>
                </a:solidFill>
              </a:rPr>
              <a:t>Rispetto a React/Vue, offre </a:t>
            </a:r>
            <a:r>
              <a:rPr b="1" lang="it">
                <a:solidFill>
                  <a:schemeClr val="dk1"/>
                </a:solidFill>
              </a:rPr>
              <a:t>type safety nativa</a:t>
            </a:r>
            <a:r>
              <a:rPr lang="it">
                <a:solidFill>
                  <a:schemeClr val="dk1"/>
                </a:solidFill>
              </a:rPr>
              <a:t>, bundle più piccoli e developer experience moderna.</a:t>
            </a:r>
            <a:endParaRPr sz="25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6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</a:rPr>
              <a:t>5.4 Tauri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6"/>
          <p:cNvSpPr txBox="1"/>
          <p:nvPr>
            <p:ph idx="1" type="body"/>
          </p:nvPr>
        </p:nvSpPr>
        <p:spPr>
          <a:xfrm>
            <a:off x="996225" y="1411825"/>
            <a:ext cx="63228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>
                <a:solidFill>
                  <a:schemeClr val="dk1"/>
                </a:solidFill>
              </a:rPr>
              <a:t>Tauri consente di realizzare app desktop multipiattaforma utilizzando frontend web (HTML, CSS, JS o framework come Leptos).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2" name="Google Shape;38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83" name="Google Shape;383;p56" title="taur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1900" y="1267525"/>
            <a:ext cx="1070550" cy="10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6"/>
          <p:cNvSpPr txBox="1"/>
          <p:nvPr/>
        </p:nvSpPr>
        <p:spPr>
          <a:xfrm>
            <a:off x="996225" y="2778675"/>
            <a:ext cx="720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Rispetto a Electron, garantisce dimensioni molto ridotte e performance superiori, grazie all’integrazione con Rust per le parti core.</a:t>
            </a:r>
            <a:endParaRPr sz="2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7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it" sz="3200">
                <a:solidFill>
                  <a:srgbClr val="1F4E79"/>
                </a:solidFill>
              </a:rPr>
              <a:t>5.5 Organizzazione del codice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57"/>
          <p:cNvSpPr txBox="1"/>
          <p:nvPr>
            <p:ph idx="1" type="body"/>
          </p:nvPr>
        </p:nvSpPr>
        <p:spPr>
          <a:xfrm>
            <a:off x="996225" y="141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Struttura modulare in cartelle</a:t>
            </a:r>
            <a:br>
              <a:rPr lang="it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Separazione in componenti UI, logica applicativa, API, Web Socket</a:t>
            </a:r>
            <a:br>
              <a:rPr lang="it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Stato globale gestito con contesti dedicati</a:t>
            </a:r>
            <a:br>
              <a:rPr lang="it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Facilità di estensione e manutenzione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8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</a:rPr>
              <a:t>5.7</a:t>
            </a:r>
            <a:r>
              <a:rPr lang="it" sz="3200">
                <a:solidFill>
                  <a:srgbClr val="1F4E79"/>
                </a:solidFill>
              </a:rPr>
              <a:t> Struttura Client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98" name="Google Shape;398;p58" title="ruggine_client_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025" y="1309475"/>
            <a:ext cx="4791975" cy="33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9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</a:rPr>
              <a:t>5.7 Service Layer - Obiettivi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9"/>
          <p:cNvSpPr txBox="1"/>
          <p:nvPr>
            <p:ph idx="1" type="body"/>
          </p:nvPr>
        </p:nvSpPr>
        <p:spPr>
          <a:xfrm>
            <a:off x="996225" y="1411825"/>
            <a:ext cx="7649100" cy="18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Implementare</a:t>
            </a:r>
            <a:r>
              <a:rPr b="1" lang="it">
                <a:solidFill>
                  <a:schemeClr val="dk1"/>
                </a:solidFill>
              </a:rPr>
              <a:t> chiamate HTTP REST</a:t>
            </a:r>
            <a:r>
              <a:rPr lang="it">
                <a:solidFill>
                  <a:schemeClr val="dk1"/>
                </a:solidFill>
              </a:rPr>
              <a:t> come da swagger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Gestisce la </a:t>
            </a:r>
            <a:r>
              <a:rPr b="1" lang="it">
                <a:solidFill>
                  <a:schemeClr val="dk1"/>
                </a:solidFill>
              </a:rPr>
              <a:t>connessione WebSocket</a:t>
            </a:r>
            <a:r>
              <a:rPr lang="it">
                <a:solidFill>
                  <a:schemeClr val="dk1"/>
                </a:solidFill>
              </a:rPr>
              <a:t> per eventi real-time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Centralizzare </a:t>
            </a:r>
            <a:r>
              <a:rPr b="1" lang="it">
                <a:solidFill>
                  <a:schemeClr val="dk1"/>
                </a:solidFill>
              </a:rPr>
              <a:t>autenticazione</a:t>
            </a:r>
            <a:r>
              <a:rPr lang="it">
                <a:solidFill>
                  <a:schemeClr val="dk1"/>
                </a:solidFill>
              </a:rPr>
              <a:t> basata su token </a:t>
            </a:r>
            <a:r>
              <a:rPr lang="it">
                <a:solidFill>
                  <a:schemeClr val="dk1"/>
                </a:solidFill>
              </a:rPr>
              <a:t>JWT</a:t>
            </a:r>
            <a:r>
              <a:rPr lang="it">
                <a:solidFill>
                  <a:schemeClr val="dk1"/>
                </a:solidFill>
              </a:rPr>
              <a:t> e gestire errori HTTP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Fornire API tipizzata al resto del client</a:t>
            </a:r>
            <a:endParaRPr/>
          </a:p>
        </p:txBody>
      </p:sp>
      <p:sp>
        <p:nvSpPr>
          <p:cNvPr id="405" name="Google Shape;405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06" name="Google Shape;406;p59"/>
          <p:cNvSpPr txBox="1"/>
          <p:nvPr>
            <p:ph idx="1" type="body"/>
          </p:nvPr>
        </p:nvSpPr>
        <p:spPr>
          <a:xfrm>
            <a:off x="996225" y="3163475"/>
            <a:ext cx="7649100" cy="18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VANTAGGI</a:t>
            </a:r>
            <a:r>
              <a:rPr lang="it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Rende le interazioni col server uniformi e consistenti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Permette di sostituire o estendere protocolli senza modificare la logica applicativa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0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</a:rPr>
              <a:t>5.7 Service Layer - Struttura Interna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0"/>
          <p:cNvSpPr txBox="1"/>
          <p:nvPr>
            <p:ph idx="1" type="body"/>
          </p:nvPr>
        </p:nvSpPr>
        <p:spPr>
          <a:xfrm>
            <a:off x="996225" y="1411825"/>
            <a:ext cx="76491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solidFill>
                  <a:schemeClr val="dk1"/>
                </a:solidFill>
                <a:highlight>
                  <a:srgbClr val="FFD966"/>
                </a:highlight>
              </a:rPr>
              <a:t>src/api</a:t>
            </a:r>
            <a:r>
              <a:rPr i="1" lang="it">
                <a:solidFill>
                  <a:schemeClr val="dk1"/>
                </a:solidFill>
              </a:rPr>
              <a:t> -&gt; </a:t>
            </a:r>
            <a:r>
              <a:rPr lang="it">
                <a:solidFill>
                  <a:schemeClr val="dk1"/>
                </a:solidFill>
              </a:rPr>
              <a:t>file entry point, esposizione srvices e ws, error handling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         -&gt;  </a:t>
            </a:r>
            <a:r>
              <a:rPr i="1" lang="it">
                <a:solidFill>
                  <a:schemeClr val="dk1"/>
                </a:solidFill>
                <a:highlight>
                  <a:srgbClr val="FFD966"/>
                </a:highlight>
              </a:rPr>
              <a:t>/services</a:t>
            </a:r>
            <a:r>
              <a:rPr i="1" lang="it">
                <a:solidFill>
                  <a:schemeClr val="dk1"/>
                </a:solidFill>
              </a:rPr>
              <a:t> -&gt;</a:t>
            </a:r>
            <a:r>
              <a:rPr lang="it">
                <a:solidFill>
                  <a:schemeClr val="dk1"/>
                </a:solidFill>
              </a:rPr>
              <a:t> Servizi HTTP per dominio:</a:t>
            </a:r>
            <a:endParaRPr>
              <a:solidFill>
                <a:schemeClr val="dk1"/>
              </a:solidFill>
            </a:endParaRPr>
          </a:p>
          <a:p>
            <a:pPr indent="-330200" lvl="0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it" sz="1600">
                <a:solidFill>
                  <a:schemeClr val="dk1"/>
                </a:solidFill>
              </a:rPr>
              <a:t>auth.rs, group.rs, message.rs, invitation.rs, membership.rs</a:t>
            </a:r>
            <a:endParaRPr i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	  -&gt;	</a:t>
            </a:r>
            <a:r>
              <a:rPr lang="it">
                <a:solidFill>
                  <a:schemeClr val="dk1"/>
                </a:solidFill>
                <a:highlight>
                  <a:srgbClr val="FFD966"/>
                </a:highlight>
              </a:rPr>
              <a:t>/</a:t>
            </a:r>
            <a:r>
              <a:rPr i="1" lang="it">
                <a:solidFill>
                  <a:schemeClr val="dk1"/>
                </a:solidFill>
                <a:highlight>
                  <a:srgbClr val="FFD966"/>
                </a:highlight>
              </a:rPr>
              <a:t>ws</a:t>
            </a:r>
            <a:r>
              <a:rPr i="1" lang="it">
                <a:solidFill>
                  <a:schemeClr val="dk1"/>
                </a:solidFill>
              </a:rPr>
              <a:t> -&gt; </a:t>
            </a:r>
            <a:r>
              <a:rPr lang="it">
                <a:solidFill>
                  <a:schemeClr val="dk1"/>
                </a:solidFill>
              </a:rPr>
              <a:t>WebSocket globale + servizi real-time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it">
                <a:solidFill>
                  <a:schemeClr val="dk1"/>
                </a:solidFill>
                <a:highlight>
                  <a:srgbClr val="FFD966"/>
                </a:highlight>
              </a:rPr>
              <a:t>src/types</a:t>
            </a:r>
            <a:r>
              <a:rPr i="1" lang="it">
                <a:solidFill>
                  <a:schemeClr val="dk1"/>
                </a:solidFill>
              </a:rPr>
              <a:t> -&gt; </a:t>
            </a:r>
            <a:r>
              <a:rPr lang="it">
                <a:solidFill>
                  <a:schemeClr val="dk1"/>
                </a:solidFill>
              </a:rPr>
              <a:t>struct tipizzare per API/WS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">
                <a:solidFill>
                  <a:schemeClr val="dk1"/>
                </a:solidFill>
              </a:rPr>
              <a:t>		</a:t>
            </a:r>
            <a:r>
              <a:rPr lang="it">
                <a:solidFill>
                  <a:schemeClr val="dk1"/>
                </a:solidFill>
              </a:rPr>
              <a:t>   serializzazione/</a:t>
            </a:r>
            <a:r>
              <a:rPr lang="it">
                <a:solidFill>
                  <a:schemeClr val="dk1"/>
                </a:solidFill>
              </a:rPr>
              <a:t>s</a:t>
            </a:r>
            <a:r>
              <a:rPr lang="it">
                <a:solidFill>
                  <a:schemeClr val="dk1"/>
                </a:solidFill>
              </a:rPr>
              <a:t>erializzazione JSON (via serde)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3" name="Google Shape;41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cxnSp>
        <p:nvCxnSpPr>
          <p:cNvPr id="414" name="Google Shape;414;p60"/>
          <p:cNvCxnSpPr/>
          <p:nvPr/>
        </p:nvCxnSpPr>
        <p:spPr>
          <a:xfrm rot="10800000">
            <a:off x="1683825" y="1836650"/>
            <a:ext cx="8700" cy="135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1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5.7 Service Layer - HTTP &amp; Web Socket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61"/>
          <p:cNvSpPr txBox="1"/>
          <p:nvPr>
            <p:ph idx="1" type="body"/>
          </p:nvPr>
        </p:nvSpPr>
        <p:spPr>
          <a:xfrm>
            <a:off x="996225" y="1411825"/>
            <a:ext cx="7649100" cy="30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HTTP REST (CRUD on-demand)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Login, registrazione, operazioni di creazione/modifica dati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Richieste puntuali con risposta immediata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WebSocket (real-time)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Aggiornamenti istantanei → messaggi, inviti, stato utenti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Riduzione overhead: no polling ripetuto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User experience fluida: aggiornamenti “light” senza refresh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1" name="Google Shape;421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2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</a:rPr>
              <a:t>5.8 Application Layer - Obiettivi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62"/>
          <p:cNvSpPr txBox="1"/>
          <p:nvPr>
            <p:ph idx="1" type="body"/>
          </p:nvPr>
        </p:nvSpPr>
        <p:spPr>
          <a:xfrm>
            <a:off x="996225" y="1411825"/>
            <a:ext cx="7649100" cy="27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Fare da </a:t>
            </a:r>
            <a:r>
              <a:rPr b="1" lang="it">
                <a:solidFill>
                  <a:schemeClr val="dk1"/>
                </a:solidFill>
              </a:rPr>
              <a:t>tramite </a:t>
            </a:r>
            <a:r>
              <a:rPr lang="it">
                <a:solidFill>
                  <a:schemeClr val="dk1"/>
                </a:solidFill>
              </a:rPr>
              <a:t>tra i componenti UI e la comunicazione backend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Fornire </a:t>
            </a:r>
            <a:r>
              <a:rPr b="1" lang="it">
                <a:solidFill>
                  <a:schemeClr val="dk1"/>
                </a:solidFill>
              </a:rPr>
              <a:t>re-render automatico</a:t>
            </a:r>
            <a:r>
              <a:rPr lang="it">
                <a:solidFill>
                  <a:schemeClr val="dk1"/>
                </a:solidFill>
              </a:rPr>
              <a:t> dei componenti UI.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Fornire un </a:t>
            </a:r>
            <a:r>
              <a:rPr b="1" lang="it">
                <a:solidFill>
                  <a:schemeClr val="dk1"/>
                </a:solidFill>
              </a:rPr>
              <a:t>livello reattivo e condiviso</a:t>
            </a:r>
            <a:r>
              <a:rPr lang="it">
                <a:solidFill>
                  <a:schemeClr val="dk1"/>
                </a:solidFill>
              </a:rPr>
              <a:t> (contexts + hooks) sopra i services.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Definire le </a:t>
            </a:r>
            <a:r>
              <a:rPr b="1" lang="it">
                <a:solidFill>
                  <a:schemeClr val="dk1"/>
                </a:solidFill>
              </a:rPr>
              <a:t>routes </a:t>
            </a:r>
            <a:r>
              <a:rPr lang="it">
                <a:solidFill>
                  <a:schemeClr val="dk1"/>
                </a:solidFill>
              </a:rPr>
              <a:t>dell'app</a:t>
            </a:r>
            <a:r>
              <a:rPr lang="it">
                <a:solidFill>
                  <a:schemeClr val="dk1"/>
                </a:solidFill>
              </a:rPr>
              <a:t> le protezioni di accesso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Offrire </a:t>
            </a:r>
            <a:r>
              <a:rPr b="1" lang="it">
                <a:solidFill>
                  <a:schemeClr val="dk1"/>
                </a:solidFill>
              </a:rPr>
              <a:t>API interne consistenti</a:t>
            </a:r>
            <a:r>
              <a:rPr lang="it">
                <a:solidFill>
                  <a:schemeClr val="dk1"/>
                </a:solidFill>
              </a:rPr>
              <a:t> per i componenti del Presentation Layer, mascherando quelle reali.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8" name="Google Shape;428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3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</a:rPr>
              <a:t>5.8 Application Layer - Componenti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3"/>
          <p:cNvSpPr txBox="1"/>
          <p:nvPr>
            <p:ph idx="1" type="body"/>
          </p:nvPr>
        </p:nvSpPr>
        <p:spPr>
          <a:xfrm>
            <a:off x="1030275" y="1693650"/>
            <a:ext cx="7649100" cy="27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2000">
                <a:solidFill>
                  <a:schemeClr val="dk1"/>
                </a:solidFill>
              </a:rPr>
              <a:t>Contexts → </a:t>
            </a:r>
            <a:r>
              <a:rPr lang="it">
                <a:solidFill>
                  <a:schemeClr val="dk1"/>
                </a:solidFill>
              </a:rPr>
              <a:t>Stato condiviso globale (auth, gruppi, unread  counts)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2000">
                <a:solidFill>
                  <a:schemeClr val="dk1"/>
                </a:solidFill>
              </a:rPr>
              <a:t>Hooks → </a:t>
            </a:r>
            <a:r>
              <a:rPr lang="it">
                <a:solidFill>
                  <a:schemeClr val="dk1"/>
                </a:solidFill>
              </a:rPr>
              <a:t>Logica reattiva incapsulata (API call, WS handling, retry).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b="1" lang="it" sz="2000">
                <a:solidFill>
                  <a:schemeClr val="dk1"/>
                </a:solidFill>
              </a:rPr>
              <a:t>Router + Guards → </a:t>
            </a:r>
            <a:r>
              <a:rPr lang="it">
                <a:solidFill>
                  <a:schemeClr val="dk1"/>
                </a:solidFill>
              </a:rPr>
              <a:t>Definizione percorsi e access control.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5" name="Google Shape;435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4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</a:rPr>
              <a:t>5.8 Application Layer - Context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42" name="Google Shape;442;p64"/>
          <p:cNvSpPr txBox="1"/>
          <p:nvPr>
            <p:ph idx="1" type="body"/>
          </p:nvPr>
        </p:nvSpPr>
        <p:spPr>
          <a:xfrm>
            <a:off x="996225" y="1411825"/>
            <a:ext cx="7649100" cy="31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Esempio: </a:t>
            </a:r>
            <a:r>
              <a:rPr i="1" lang="it">
                <a:solidFill>
                  <a:schemeClr val="dk1"/>
                </a:solidFill>
              </a:rPr>
              <a:t>Unread Counts Context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Tiene traccia di: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it" sz="1600">
                <a:solidFill>
                  <a:schemeClr val="dk1"/>
                </a:solidFill>
              </a:rPr>
              <a:t>unread_counts </a:t>
            </a:r>
            <a:r>
              <a:rPr lang="it" sz="1600">
                <a:solidFill>
                  <a:schemeClr val="dk1"/>
                </a:solidFill>
              </a:rPr>
              <a:t>(group_id → count)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it" sz="1600">
                <a:solidFill>
                  <a:schemeClr val="dk1"/>
                </a:solidFill>
              </a:rPr>
              <a:t>unread_message_ids </a:t>
            </a:r>
            <a:r>
              <a:rPr lang="it" sz="1600">
                <a:solidFill>
                  <a:schemeClr val="dk1"/>
                </a:solidFill>
              </a:rPr>
              <a:t>(group_id → ids)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it" sz="1600">
                <a:solidFill>
                  <a:schemeClr val="dk1"/>
                </a:solidFill>
              </a:rPr>
              <a:t>unread_marked_read </a:t>
            </a:r>
            <a:r>
              <a:rPr lang="it" sz="1600">
                <a:solidFill>
                  <a:schemeClr val="dk1"/>
                </a:solidFill>
              </a:rPr>
              <a:t>(cache locale letti)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Esposto tramite </a:t>
            </a:r>
            <a:r>
              <a:rPr i="1" lang="it">
                <a:solidFill>
                  <a:schemeClr val="dk1"/>
                </a:solidFill>
              </a:rPr>
              <a:t>provide_* / use_*</a:t>
            </a:r>
            <a:r>
              <a:rPr lang="it">
                <a:solidFill>
                  <a:schemeClr val="dk1"/>
                </a:solidFill>
              </a:rPr>
              <a:t> pattern.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Aggiornato sia da WS che da refresh API.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Vantaggi</a:t>
            </a:r>
            <a:r>
              <a:rPr lang="it">
                <a:solidFill>
                  <a:schemeClr val="dk1"/>
                </a:solidFill>
              </a:rPr>
              <a:t>: stato centralizzato, UI reattiva, sincronizzazione multi-tab.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5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solidFill>
                  <a:srgbClr val="1F4E79"/>
                </a:solidFill>
              </a:rPr>
              <a:t>5.8 Application Layer - Hooks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49" name="Google Shape;449;p65"/>
          <p:cNvSpPr txBox="1"/>
          <p:nvPr>
            <p:ph idx="1" type="body"/>
          </p:nvPr>
        </p:nvSpPr>
        <p:spPr>
          <a:xfrm>
            <a:off x="996225" y="1411825"/>
            <a:ext cx="7649100" cy="33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Esempi: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it" sz="1700">
                <a:solidFill>
                  <a:schemeClr val="dk1"/>
                </a:solidFill>
              </a:rPr>
              <a:t>use_groups()</a:t>
            </a:r>
            <a:r>
              <a:rPr lang="it" sz="1700">
                <a:solidFill>
                  <a:schemeClr val="dk1"/>
                </a:solidFill>
              </a:rPr>
              <a:t> : </a:t>
            </a:r>
            <a:endParaRPr sz="1700">
              <a:solidFill>
                <a:schemeClr val="dk1"/>
              </a:solidFill>
            </a:endParaRPr>
          </a:p>
          <a:p>
            <a:pPr indent="-33020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Recupera gruppi utente, gestisce active_group_id.</a:t>
            </a:r>
            <a:endParaRPr sz="1600">
              <a:solidFill>
                <a:schemeClr val="dk1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Segnali esposti: stato caricamento, retry automatici, errori.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it" sz="1700">
                <a:solidFill>
                  <a:schemeClr val="dk1"/>
                </a:solidFill>
              </a:rPr>
              <a:t>use_group_message_ws(token)</a:t>
            </a:r>
            <a:r>
              <a:rPr lang="it" sz="1700">
                <a:solidFill>
                  <a:schemeClr val="dk1"/>
                </a:solidFill>
              </a:rPr>
              <a:t> : </a:t>
            </a:r>
            <a:endParaRPr sz="1700">
              <a:solidFill>
                <a:schemeClr val="dk1"/>
              </a:solidFill>
            </a:endParaRPr>
          </a:p>
          <a:p>
            <a:pPr indent="-33020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Gestione real-time WS: ricezione messaggi, invio, join tracking.</a:t>
            </a:r>
            <a:endParaRPr sz="1600">
              <a:solidFill>
                <a:schemeClr val="dk1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Integrazione con </a:t>
            </a:r>
            <a:r>
              <a:rPr i="1" lang="it" sz="1600">
                <a:solidFill>
                  <a:schemeClr val="dk1"/>
                </a:solidFill>
              </a:rPr>
              <a:t>unread_counts_context</a:t>
            </a:r>
            <a:r>
              <a:rPr lang="it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1600">
                <a:solidFill>
                  <a:schemeClr val="dk1"/>
                </a:solidFill>
              </a:rPr>
              <a:t>Caratteristiche comuni</a:t>
            </a:r>
            <a:r>
              <a:rPr lang="it" sz="1600">
                <a:solidFill>
                  <a:schemeClr val="dk1"/>
                </a:solidFill>
              </a:rPr>
              <a:t>: signals, actions asincrone, effetti reattivi, cleanup automatico.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6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5.8 Application Layer - </a:t>
            </a:r>
            <a:r>
              <a:rPr lang="it">
                <a:solidFill>
                  <a:srgbClr val="1F4E79"/>
                </a:solidFill>
              </a:rPr>
              <a:t>Router &amp; Guards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56" name="Google Shape;456;p66"/>
          <p:cNvSpPr txBox="1"/>
          <p:nvPr>
            <p:ph idx="1" type="body"/>
          </p:nvPr>
        </p:nvSpPr>
        <p:spPr>
          <a:xfrm>
            <a:off x="996225" y="1411825"/>
            <a:ext cx="7649100" cy="33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AppRouter:</a:t>
            </a:r>
            <a:endParaRPr b="1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Routes pubbliche (</a:t>
            </a:r>
            <a:r>
              <a:rPr i="1" lang="it">
                <a:solidFill>
                  <a:schemeClr val="dk1"/>
                </a:solidFill>
              </a:rPr>
              <a:t>/login</a:t>
            </a:r>
            <a:r>
              <a:rPr lang="it">
                <a:solidFill>
                  <a:schemeClr val="dk1"/>
                </a:solidFill>
              </a:rPr>
              <a:t>, </a:t>
            </a:r>
            <a:r>
              <a:rPr i="1" lang="it">
                <a:solidFill>
                  <a:schemeClr val="dk1"/>
                </a:solidFill>
              </a:rPr>
              <a:t>/register</a:t>
            </a:r>
            <a:r>
              <a:rPr lang="it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Routes protette (</a:t>
            </a:r>
            <a:r>
              <a:rPr i="1" lang="it">
                <a:solidFill>
                  <a:schemeClr val="dk1"/>
                </a:solidFill>
              </a:rPr>
              <a:t>/,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i="1" lang="it">
                <a:solidFill>
                  <a:schemeClr val="dk1"/>
                </a:solidFill>
              </a:rPr>
              <a:t>/profile, /home </a:t>
            </a:r>
            <a:r>
              <a:rPr lang="it">
                <a:solidFill>
                  <a:schemeClr val="dk1"/>
                </a:solidFill>
              </a:rPr>
              <a:t>…).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AuthGuard</a:t>
            </a:r>
            <a:r>
              <a:rPr b="1" lang="it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Verifica token da </a:t>
            </a:r>
            <a:r>
              <a:rPr i="1" lang="it">
                <a:solidFill>
                  <a:schemeClr val="dk1"/>
                </a:solidFill>
              </a:rPr>
              <a:t>auth_context </a:t>
            </a:r>
            <a:r>
              <a:rPr lang="it">
                <a:solidFill>
                  <a:schemeClr val="dk1"/>
                </a:solidFill>
              </a:rPr>
              <a:t>o storage.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Reindirizza a </a:t>
            </a:r>
            <a:r>
              <a:rPr i="1" lang="it">
                <a:solidFill>
                  <a:schemeClr val="dk1"/>
                </a:solidFill>
              </a:rPr>
              <a:t>/login</a:t>
            </a:r>
            <a:r>
              <a:rPr lang="it">
                <a:solidFill>
                  <a:schemeClr val="dk1"/>
                </a:solidFill>
              </a:rPr>
              <a:t> se non autenticato.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Sincronizza token multi-tab.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7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5.8 Application Layer - Flusso dati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63" name="Google Shape;463;p67"/>
          <p:cNvSpPr txBox="1"/>
          <p:nvPr>
            <p:ph idx="1" type="body"/>
          </p:nvPr>
        </p:nvSpPr>
        <p:spPr>
          <a:xfrm>
            <a:off x="996225" y="1411825"/>
            <a:ext cx="7649100" cy="31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Esempio per utente già loggato: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it">
                <a:solidFill>
                  <a:schemeClr val="dk1"/>
                </a:solidFill>
              </a:rPr>
              <a:t>Avvio → global provider istanzia i vari context.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it">
                <a:solidFill>
                  <a:schemeClr val="dk1"/>
                </a:solidFill>
              </a:rPr>
              <a:t>AuthGuard recupera il token.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i="1" lang="it">
                <a:solidFill>
                  <a:schemeClr val="dk1"/>
                </a:solidFill>
              </a:rPr>
              <a:t>use_groups()</a:t>
            </a:r>
            <a:r>
              <a:rPr lang="it">
                <a:solidFill>
                  <a:schemeClr val="dk1"/>
                </a:solidFill>
              </a:rPr>
              <a:t> chiama il service e fa refresh gruppi.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i="1" lang="it">
                <a:solidFill>
                  <a:schemeClr val="dk1"/>
                </a:solidFill>
              </a:rPr>
              <a:t>use_group_message_ws(token)</a:t>
            </a:r>
            <a:r>
              <a:rPr lang="it">
                <a:solidFill>
                  <a:schemeClr val="dk1"/>
                </a:solidFill>
              </a:rPr>
              <a:t> → si registra al WS globale.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it">
                <a:solidFill>
                  <a:schemeClr val="dk1"/>
                </a:solidFill>
              </a:rPr>
              <a:t>Eventi WS aggiornano </a:t>
            </a:r>
            <a:r>
              <a:rPr i="1" lang="it">
                <a:solidFill>
                  <a:schemeClr val="dk1"/>
                </a:solidFill>
              </a:rPr>
              <a:t>unread_counts_context()</a:t>
            </a:r>
            <a:r>
              <a:rPr lang="it">
                <a:solidFill>
                  <a:schemeClr val="dk1"/>
                </a:solidFill>
              </a:rPr>
              <a:t> che fornisce segnali all’UI.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it">
                <a:solidFill>
                  <a:schemeClr val="dk1"/>
                </a:solidFill>
              </a:rPr>
              <a:t>UI (sidebar, chat) consuma i segnali aggiornati.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8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5.9 Presentation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70" name="Google Shape;470;p68"/>
          <p:cNvSpPr txBox="1"/>
          <p:nvPr>
            <p:ph idx="1" type="body"/>
          </p:nvPr>
        </p:nvSpPr>
        <p:spPr>
          <a:xfrm>
            <a:off x="996225" y="1411825"/>
            <a:ext cx="7649100" cy="3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Framework UI: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>
                <a:solidFill>
                  <a:schemeClr val="dk1"/>
                </a:solidFill>
              </a:rPr>
              <a:t>Leptos </a:t>
            </a:r>
            <a:r>
              <a:rPr lang="it">
                <a:solidFill>
                  <a:schemeClr val="dk1"/>
                </a:solidFill>
              </a:rPr>
              <a:t>→ approccio reattivo (effects, signals e context).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>
                <a:solidFill>
                  <a:schemeClr val="dk1"/>
                </a:solidFill>
              </a:rPr>
              <a:t>TailwindCSS </a:t>
            </a:r>
            <a:r>
              <a:rPr lang="it">
                <a:solidFill>
                  <a:schemeClr val="dk1"/>
                </a:solidFill>
              </a:rPr>
              <a:t>→ stile modulare, switch tema chiaro/scuro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Pagine principali dell’app: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it">
                <a:solidFill>
                  <a:schemeClr val="dk1"/>
                </a:solidFill>
              </a:rPr>
              <a:t>Login / Register → autenticazione.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it">
                <a:solidFill>
                  <a:schemeClr val="dk1"/>
                </a:solidFill>
              </a:rPr>
              <a:t>Home (Chat) → chat di gruppo e notifiche real-time.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it">
                <a:solidFill>
                  <a:schemeClr val="dk1"/>
                </a:solidFill>
              </a:rPr>
              <a:t>Profile → gestione utente.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it">
                <a:solidFill>
                  <a:schemeClr val="dk1"/>
                </a:solidFill>
              </a:rPr>
              <a:t>Settings → preferenze e configurazioni.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it">
                <a:solidFill>
                  <a:schemeClr val="dk1"/>
                </a:solidFill>
              </a:rPr>
              <a:t>Admin (solo per utenti autorizzati).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9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1F4E79"/>
                </a:solidFill>
              </a:rPr>
              <a:t>5.9 </a:t>
            </a:r>
            <a:r>
              <a:rPr lang="it" sz="2400">
                <a:solidFill>
                  <a:srgbClr val="1F4E79"/>
                </a:solidFill>
              </a:rPr>
              <a:t>Presentation Layer - Componenti UI (Home)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77" name="Google Shape;477;p69"/>
          <p:cNvSpPr txBox="1"/>
          <p:nvPr>
            <p:ph idx="1" type="body"/>
          </p:nvPr>
        </p:nvSpPr>
        <p:spPr>
          <a:xfrm>
            <a:off x="996225" y="1411825"/>
            <a:ext cx="7649100" cy="3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AppLayout → </a:t>
            </a:r>
            <a:r>
              <a:rPr lang="it">
                <a:solidFill>
                  <a:schemeClr val="dk1"/>
                </a:solidFill>
              </a:rPr>
              <a:t>struttura base (navbar, sidebar, contenuto).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Sidebar →</a:t>
            </a:r>
            <a:r>
              <a:rPr lang="it">
                <a:solidFill>
                  <a:schemeClr val="dk1"/>
                </a:solidFill>
              </a:rPr>
              <a:t> elenco gruppi + badge “non letti”, modal inviti + badge, modal crea nuovo gruppo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ChatView → </a:t>
            </a:r>
            <a:r>
              <a:rPr lang="it">
                <a:solidFill>
                  <a:schemeClr val="dk1"/>
                </a:solidFill>
              </a:rPr>
              <a:t>flusso messaggi in tempo reale + counter membri e utenti online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Group Options→</a:t>
            </a:r>
            <a:r>
              <a:rPr lang="it">
                <a:solidFill>
                  <a:schemeClr val="dk1"/>
                </a:solidFill>
              </a:rPr>
              <a:t> dettagli gruppo + stato membri, modal crea invito, abbandona gruppo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483" name="Google Shape;483;p70" title="04-chat-are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725" y="523392"/>
            <a:ext cx="7718550" cy="4096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489" name="Google Shape;489;p71" title="05-temi-confron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88" y="525613"/>
            <a:ext cx="7680027" cy="40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95" name="Google Shape;495;p72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1F4E79"/>
                </a:solidFill>
              </a:rPr>
              <a:t>5.9 Presentation Layer - Componenti UI (Home)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72"/>
          <p:cNvSpPr txBox="1"/>
          <p:nvPr>
            <p:ph idx="1" type="body"/>
          </p:nvPr>
        </p:nvSpPr>
        <p:spPr>
          <a:xfrm>
            <a:off x="996225" y="1309475"/>
            <a:ext cx="7649100" cy="3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Elementi </a:t>
            </a:r>
            <a:r>
              <a:rPr b="1" lang="it">
                <a:solidFill>
                  <a:schemeClr val="dk1"/>
                </a:solidFill>
              </a:rPr>
              <a:t>aggiornati</a:t>
            </a:r>
            <a:r>
              <a:rPr b="1" lang="it">
                <a:solidFill>
                  <a:schemeClr val="dk1"/>
                </a:solidFill>
              </a:rPr>
              <a:t> via WS in base all’evento:</a:t>
            </a:r>
            <a:endParaRPr b="1"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>
                <a:solidFill>
                  <a:schemeClr val="dk1"/>
                </a:solidFill>
              </a:rPr>
              <a:t>Messaggi Chat </a:t>
            </a:r>
            <a:r>
              <a:rPr b="1" lang="it">
                <a:solidFill>
                  <a:schemeClr val="dk1"/>
                </a:solidFill>
              </a:rPr>
              <a:t>→ </a:t>
            </a:r>
            <a:r>
              <a:rPr lang="it">
                <a:solidFill>
                  <a:schemeClr val="dk1"/>
                </a:solidFill>
              </a:rPr>
              <a:t>nuovo messaggio in arrivo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>
                <a:solidFill>
                  <a:schemeClr val="dk1"/>
                </a:solidFill>
              </a:rPr>
              <a:t>Counter membri gruppo </a:t>
            </a:r>
            <a:r>
              <a:rPr b="1" lang="it">
                <a:solidFill>
                  <a:schemeClr val="dk1"/>
                </a:solidFill>
              </a:rPr>
              <a:t>→</a:t>
            </a:r>
            <a:r>
              <a:rPr lang="it">
                <a:solidFill>
                  <a:schemeClr val="dk1"/>
                </a:solidFill>
              </a:rPr>
              <a:t> utente accetta invito, utente abbandona gruppo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>
                <a:solidFill>
                  <a:schemeClr val="dk1"/>
                </a:solidFill>
              </a:rPr>
              <a:t>Counter membri online gruppo </a:t>
            </a:r>
            <a:r>
              <a:rPr b="1" lang="it">
                <a:solidFill>
                  <a:schemeClr val="dk1"/>
                </a:solidFill>
              </a:rPr>
              <a:t>→ </a:t>
            </a:r>
            <a:r>
              <a:rPr lang="it">
                <a:solidFill>
                  <a:schemeClr val="dk1"/>
                </a:solidFill>
              </a:rPr>
              <a:t>utente del gruppo si connette/</a:t>
            </a:r>
            <a:r>
              <a:rPr lang="it">
                <a:solidFill>
                  <a:schemeClr val="dk1"/>
                </a:solidFill>
              </a:rPr>
              <a:t>disconnette</a:t>
            </a:r>
            <a:r>
              <a:rPr lang="it">
                <a:solidFill>
                  <a:schemeClr val="dk1"/>
                </a:solidFill>
              </a:rPr>
              <a:t> dal web socket.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>
                <a:solidFill>
                  <a:schemeClr val="dk1"/>
                </a:solidFill>
              </a:rPr>
              <a:t>Lista gruppi</a:t>
            </a:r>
            <a:r>
              <a:rPr b="1" lang="it">
                <a:solidFill>
                  <a:schemeClr val="dk1"/>
                </a:solidFill>
              </a:rPr>
              <a:t>→</a:t>
            </a:r>
            <a:r>
              <a:rPr lang="it">
                <a:solidFill>
                  <a:schemeClr val="dk1"/>
                </a:solidFill>
              </a:rPr>
              <a:t> utente crea nuovo gruppo, utente abbandona gruppo.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>
                <a:solidFill>
                  <a:schemeClr val="dk1"/>
                </a:solidFill>
              </a:rPr>
              <a:t>Counter messaggi non letti -&gt; </a:t>
            </a:r>
            <a:r>
              <a:rPr lang="it">
                <a:solidFill>
                  <a:schemeClr val="dk1"/>
                </a:solidFill>
              </a:rPr>
              <a:t>nuovo messaggio, lettura messaggio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>
                <a:solidFill>
                  <a:schemeClr val="dk1"/>
                </a:solidFill>
              </a:rPr>
              <a:t>Counter nuovi inviti-&gt; </a:t>
            </a:r>
            <a:r>
              <a:rPr lang="it">
                <a:solidFill>
                  <a:schemeClr val="dk1"/>
                </a:solidFill>
              </a:rPr>
              <a:t>nuovo invito ricevuto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it">
                <a:solidFill>
                  <a:schemeClr val="dk1"/>
                </a:solidFill>
              </a:rPr>
              <a:t>Counter membri online condiviso tra gruppi -&gt;  </a:t>
            </a:r>
            <a:r>
              <a:rPr lang="it">
                <a:solidFill>
                  <a:schemeClr val="dk1"/>
                </a:solidFill>
              </a:rPr>
              <a:t>utente con cui si condivide un gruppo si connette/disconnette dal web socket.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02" name="Google Shape;502;p73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6.1 Test Client - Obiettivi 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73"/>
          <p:cNvSpPr txBox="1"/>
          <p:nvPr>
            <p:ph idx="1" type="body"/>
          </p:nvPr>
        </p:nvSpPr>
        <p:spPr>
          <a:xfrm>
            <a:off x="996225" y="1411825"/>
            <a:ext cx="7649100" cy="27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Garantire la correttezza della logica (hooks, context, servizi).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Testare casi limite dei componenti e degli hooks associati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Prevenire regressioni durante refactor.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Simulare scenari di fetch dal backend (HTTP, WebSocket).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09" name="Google Shape;509;p74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6.1 Test Client - Struttura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74"/>
          <p:cNvSpPr txBox="1"/>
          <p:nvPr>
            <p:ph idx="1" type="body"/>
          </p:nvPr>
        </p:nvSpPr>
        <p:spPr>
          <a:xfrm>
            <a:off x="996225" y="1411825"/>
            <a:ext cx="7649100" cy="3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Unit tests</a:t>
            </a:r>
            <a:r>
              <a:rPr lang="it">
                <a:solidFill>
                  <a:schemeClr val="dk1"/>
                </a:solidFill>
              </a:rPr>
              <a:t> → test di funzioni pure, parsing, tipi types/, utilità (utils/).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Integration tests</a:t>
            </a:r>
            <a:r>
              <a:rPr lang="it">
                <a:solidFill>
                  <a:schemeClr val="dk1"/>
                </a:solidFill>
              </a:rPr>
              <a:t> → combinazioni Hooks + Context + Servizi (API/WebSocket simulati)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Mock HTTP &amp; WebSocket servizi → risposte simulate per test controllati.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Uso di fixture (dati finti) per gruppi, messaggi, inviti</a:t>
            </a:r>
            <a:r>
              <a:rPr lang="it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Verifica error handling, fallback logic, retry</a:t>
            </a:r>
            <a:r>
              <a:rPr lang="it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6" name="Google Shape;516;p75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7.1</a:t>
            </a:r>
            <a:r>
              <a:rPr lang="it">
                <a:solidFill>
                  <a:srgbClr val="1F4E79"/>
                </a:solidFill>
              </a:rPr>
              <a:t> Funzionalità - Autenticazione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75"/>
          <p:cNvSpPr txBox="1"/>
          <p:nvPr>
            <p:ph idx="1" type="body"/>
          </p:nvPr>
        </p:nvSpPr>
        <p:spPr>
          <a:xfrm>
            <a:off x="996225" y="1411825"/>
            <a:ext cx="5280600" cy="30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Login con email e password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Token ottenuto dal server salvato in local storage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Registrazione a più schede: dati personali (nome, cognome, data nascita, sesso, indirizzo) e credenziali di accesso all’app (email, username, password)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Logout con cancellazione del token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Pagina di modifica dati personali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18" name="Google Shape;51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8325" y="1515700"/>
            <a:ext cx="2546526" cy="25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24" name="Google Shape;524;p76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7.1 Funzionalità - Gruppi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76"/>
          <p:cNvSpPr txBox="1"/>
          <p:nvPr>
            <p:ph idx="1" type="body"/>
          </p:nvPr>
        </p:nvSpPr>
        <p:spPr>
          <a:xfrm>
            <a:off x="996225" y="1411825"/>
            <a:ext cx="7649100" cy="27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Creazione nuovo gruppo inserendo nome e descrizione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Elenco reattivo dei gruppi di cui si fa parte nella sidebar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Possibilità di abbandonare il gruppo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526" name="Google Shape;52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00" y="2517725"/>
            <a:ext cx="3139300" cy="24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7297" y="2544738"/>
            <a:ext cx="2369853" cy="242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33" name="Google Shape;533;p77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7.1 Funzionalità - Inviti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77"/>
          <p:cNvSpPr txBox="1"/>
          <p:nvPr>
            <p:ph idx="1" type="body"/>
          </p:nvPr>
        </p:nvSpPr>
        <p:spPr>
          <a:xfrm>
            <a:off x="1030275" y="1392175"/>
            <a:ext cx="7649100" cy="27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Creare nuovo invito per un gruppo specificando username destinatario e ruolo nel gruppo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342270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Elenco nuovi inviti e cronologia inviti </a:t>
            </a:r>
            <a:r>
              <a:rPr lang="it" sz="1600">
                <a:solidFill>
                  <a:schemeClr val="dk1"/>
                </a:solidFill>
              </a:rPr>
              <a:t>accettati</a:t>
            </a:r>
            <a:r>
              <a:rPr lang="it" sz="1600">
                <a:solidFill>
                  <a:schemeClr val="dk1"/>
                </a:solidFill>
              </a:rPr>
              <a:t>/rifiutati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Accettare o rifiutare invito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35" name="Google Shape;53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2651" y="1910900"/>
            <a:ext cx="2655400" cy="28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600" y="3056507"/>
            <a:ext cx="2655400" cy="1870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42" name="Google Shape;542;p78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7.1 Funzionalità - Chat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78"/>
          <p:cNvSpPr txBox="1"/>
          <p:nvPr>
            <p:ph idx="1" type="body"/>
          </p:nvPr>
        </p:nvSpPr>
        <p:spPr>
          <a:xfrm>
            <a:off x="1030275" y="1392175"/>
            <a:ext cx="4401900" cy="27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Inviare e ricevere messaggi nella chat di gruppo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Visualizzare elenco e stato dei membri del gruppo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44" name="Google Shape;54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6525" y="1170975"/>
            <a:ext cx="3128251" cy="29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225" y="2874350"/>
            <a:ext cx="4579899" cy="17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51" name="Google Shape;551;p79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7.1 Funzionalità - CPU Logs (Admin)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79"/>
          <p:cNvSpPr txBox="1"/>
          <p:nvPr>
            <p:ph idx="1" type="body"/>
          </p:nvPr>
        </p:nvSpPr>
        <p:spPr>
          <a:xfrm>
            <a:off x="1030275" y="1392175"/>
            <a:ext cx="7298700" cy="27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Solo per utenti di tipo admin è disponibile la pagina di monitoraggo del log di utilizzo cpu del server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Possibilità di scaricare i log in vari formati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58" name="Google Shape;558;p80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7.1 Funzionalità - CPU Logs (Admin)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9" name="Google Shape;5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113" y="1442225"/>
            <a:ext cx="6507418" cy="35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65" name="Google Shape;565;p81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8.1 Compatibilità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81"/>
          <p:cNvSpPr txBox="1"/>
          <p:nvPr>
            <p:ph idx="1" type="body"/>
          </p:nvPr>
        </p:nvSpPr>
        <p:spPr>
          <a:xfrm>
            <a:off x="1030275" y="1392175"/>
            <a:ext cx="7298700" cy="30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Cross-platform con un unico codice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Il frontend gira in </a:t>
            </a:r>
            <a:r>
              <a:rPr b="1" lang="it" sz="1600">
                <a:solidFill>
                  <a:schemeClr val="dk1"/>
                </a:solidFill>
              </a:rPr>
              <a:t>WebAssembly + WebView </a:t>
            </a:r>
            <a:r>
              <a:rPr lang="it" sz="1600">
                <a:solidFill>
                  <a:schemeClr val="dk1"/>
                </a:solidFill>
              </a:rPr>
              <a:t>→ il rendering sfrutta il motore nativo del sistema (WebKit su macOS/Linux, Edge/Chromium su Windows).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Dimensioni ridotte (10–20 MB)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Non include un browser completo come Electron, ma usa il WebView già presente nel sistema.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Risultato: pacchetto leggero e con meno dipendenze.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Dimensione Ruggine Chat: 13 MB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72" name="Google Shape;572;p82"/>
          <p:cNvSpPr txBox="1"/>
          <p:nvPr>
            <p:ph type="title"/>
          </p:nvPr>
        </p:nvSpPr>
        <p:spPr>
          <a:xfrm>
            <a:off x="996225" y="736775"/>
            <a:ext cx="771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F4E79"/>
                </a:solidFill>
              </a:rPr>
              <a:t>8.2 Distribuzione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82"/>
          <p:cNvSpPr txBox="1"/>
          <p:nvPr>
            <p:ph idx="1" type="body"/>
          </p:nvPr>
        </p:nvSpPr>
        <p:spPr>
          <a:xfrm>
            <a:off x="1030275" y="1392175"/>
            <a:ext cx="7298700" cy="32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Sono quindi </a:t>
            </a:r>
            <a:r>
              <a:rPr lang="it" sz="1600">
                <a:solidFill>
                  <a:schemeClr val="dk1"/>
                </a:solidFill>
              </a:rPr>
              <a:t>distribuibili</a:t>
            </a:r>
            <a:r>
              <a:rPr lang="it" sz="1600">
                <a:solidFill>
                  <a:schemeClr val="dk1"/>
                </a:solidFill>
              </a:rPr>
              <a:t> installer per i vari OS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</a:rPr>
              <a:t>Windows</a:t>
            </a:r>
            <a:r>
              <a:rPr lang="it" sz="1600">
                <a:solidFill>
                  <a:schemeClr val="dk1"/>
                </a:solidFill>
              </a:rPr>
              <a:t>: </a:t>
            </a:r>
            <a:endParaRPr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.exe installer tradizionale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Supporto a MSI opzionale per distribuzioni enterprise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</a:rPr>
              <a:t>macOS</a:t>
            </a:r>
            <a:r>
              <a:rPr lang="it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.dmg per installazione drag-and-drop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.pkg per distribuzioni gestite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Linux</a:t>
            </a:r>
            <a:r>
              <a:rPr lang="it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.deb per Debian/Ubuntu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.rpm per Fedora/RedHat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